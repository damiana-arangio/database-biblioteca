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1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55018E-7466-45FA-91F1-FFAB294175F5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705BB-AA55-4C6E-9EE0-BD6DBCB3A5E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8652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705BB-AA55-4C6E-9EE0-BD6DBCB3A5E1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663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705BB-AA55-4C6E-9EE0-BD6DBCB3A5E1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5144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5493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1553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4975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097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0007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512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8345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954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684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8985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412923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27239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1192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51782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417833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8679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DB1999-50FF-419E-BFFA-5C9C89EE8308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16288D5D-A84C-4C65-8AE1-7C950DD31E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5450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4A5790-330F-B858-627C-C901A4DB84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9639" y="1466718"/>
            <a:ext cx="7766936" cy="1646302"/>
          </a:xfrm>
        </p:spPr>
        <p:txBody>
          <a:bodyPr/>
          <a:lstStyle/>
          <a:p>
            <a:pPr marL="1045844" algn="l">
              <a:lnSpc>
                <a:spcPct val="100000"/>
              </a:lnSpc>
              <a:spcBef>
                <a:spcPts val="2800"/>
              </a:spcBef>
            </a:pPr>
            <a:r>
              <a:rPr lang="it-IT" sz="6000" spc="-10" dirty="0"/>
              <a:t>BASI</a:t>
            </a:r>
            <a:r>
              <a:rPr lang="it-IT" sz="6000" spc="-30" dirty="0"/>
              <a:t> </a:t>
            </a:r>
            <a:r>
              <a:rPr lang="it-IT" sz="6000" spc="10" dirty="0"/>
              <a:t>DI</a:t>
            </a:r>
            <a:r>
              <a:rPr lang="it-IT" sz="6000" spc="-100" dirty="0"/>
              <a:t> </a:t>
            </a:r>
            <a:r>
              <a:rPr lang="it-IT" sz="6000" spc="-75" dirty="0"/>
              <a:t>DATI</a:t>
            </a:r>
            <a:br>
              <a:rPr lang="it-IT" sz="9600" dirty="0"/>
            </a:b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C3D258D-BDCC-E220-DA1E-BC2BF5B3C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3218" y="2185168"/>
            <a:ext cx="7766936" cy="404470"/>
          </a:xfrm>
        </p:spPr>
        <p:txBody>
          <a:bodyPr/>
          <a:lstStyle/>
          <a:p>
            <a:pPr algn="ctr"/>
            <a:r>
              <a:rPr lang="it-IT" sz="1800" spc="5" dirty="0"/>
              <a:t>Obiettivo:</a:t>
            </a:r>
            <a:r>
              <a:rPr lang="it-IT" sz="1800" spc="-75" dirty="0"/>
              <a:t> </a:t>
            </a:r>
            <a:r>
              <a:rPr lang="it-IT" sz="1800" dirty="0"/>
              <a:t>progettazione</a:t>
            </a:r>
            <a:r>
              <a:rPr lang="it-IT" sz="1800" spc="-90" dirty="0"/>
              <a:t> </a:t>
            </a:r>
            <a:r>
              <a:rPr lang="it-IT" sz="1800" dirty="0"/>
              <a:t>di</a:t>
            </a:r>
            <a:r>
              <a:rPr lang="it-IT" sz="1800" spc="-5" dirty="0"/>
              <a:t> </a:t>
            </a:r>
            <a:r>
              <a:rPr lang="it-IT" sz="1800" spc="15" dirty="0"/>
              <a:t>una</a:t>
            </a:r>
            <a:r>
              <a:rPr lang="it-IT" sz="1800" spc="-25" dirty="0"/>
              <a:t> </a:t>
            </a:r>
            <a:r>
              <a:rPr lang="it-IT" sz="1800" spc="-5" dirty="0"/>
              <a:t>base</a:t>
            </a:r>
            <a:r>
              <a:rPr lang="it-IT" sz="1800" spc="40" dirty="0"/>
              <a:t> </a:t>
            </a:r>
            <a:r>
              <a:rPr lang="it-IT" sz="1800" dirty="0"/>
              <a:t>di</a:t>
            </a:r>
            <a:r>
              <a:rPr lang="it-IT" sz="1800" spc="-10" dirty="0"/>
              <a:t> </a:t>
            </a:r>
            <a:r>
              <a:rPr lang="it-IT" sz="1800" spc="10" dirty="0"/>
              <a:t>dati. 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CA6055B-CED6-9A92-AD97-C2A82E081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013" y="2945497"/>
            <a:ext cx="4145346" cy="287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857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2">
            <a:extLst>
              <a:ext uri="{FF2B5EF4-FFF2-40B4-BE49-F238E27FC236}">
                <a16:creationId xmlns:a16="http://schemas.microsoft.com/office/drawing/2014/main" id="{B28E9F13-1B7D-DE9E-B3B9-31959BF5957A}"/>
              </a:ext>
            </a:extLst>
          </p:cNvPr>
          <p:cNvSpPr txBox="1">
            <a:spLocks/>
          </p:cNvSpPr>
          <p:nvPr/>
        </p:nvSpPr>
        <p:spPr>
          <a:xfrm>
            <a:off x="404949" y="452755"/>
            <a:ext cx="8321040" cy="533351"/>
          </a:xfrm>
          <a:prstGeom prst="rect">
            <a:avLst/>
          </a:prstGeom>
        </p:spPr>
        <p:txBody>
          <a:bodyPr vert="horz" wrap="square" lIns="0" tIns="7620" rIns="0" bIns="0" rtlCol="0" anchor="t">
            <a:sp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12700" marR="5080">
              <a:lnSpc>
                <a:spcPct val="101400"/>
              </a:lnSpc>
              <a:spcBef>
                <a:spcPts val="60"/>
              </a:spcBef>
            </a:pPr>
            <a:r>
              <a:rPr lang="it-IT" spc="-25" dirty="0"/>
              <a:t>Requisiti</a:t>
            </a:r>
            <a:r>
              <a:rPr lang="it-IT" spc="229" dirty="0"/>
              <a:t> </a:t>
            </a:r>
            <a:r>
              <a:rPr lang="it-IT" spc="-15" dirty="0"/>
              <a:t>espressi</a:t>
            </a:r>
            <a:r>
              <a:rPr lang="it-IT" spc="229" dirty="0"/>
              <a:t> </a:t>
            </a:r>
            <a:r>
              <a:rPr lang="it-IT" spc="-5" dirty="0"/>
              <a:t>in</a:t>
            </a:r>
            <a:r>
              <a:rPr lang="it-IT" spc="35" dirty="0"/>
              <a:t> </a:t>
            </a:r>
            <a:r>
              <a:rPr lang="it-IT" spc="-5" dirty="0"/>
              <a:t>linguaggio </a:t>
            </a:r>
            <a:r>
              <a:rPr lang="it-IT" spc="-780" dirty="0"/>
              <a:t> </a:t>
            </a:r>
            <a:r>
              <a:rPr lang="it-IT" dirty="0"/>
              <a:t>naturale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C0B7074F-989C-2635-F74B-EBACB33FAE1A}"/>
              </a:ext>
            </a:extLst>
          </p:cNvPr>
          <p:cNvSpPr txBox="1"/>
          <p:nvPr/>
        </p:nvSpPr>
        <p:spPr>
          <a:xfrm>
            <a:off x="404949" y="1206823"/>
            <a:ext cx="9306610" cy="50292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99"/>
              </a:lnSpc>
              <a:spcBef>
                <a:spcPts val="100"/>
              </a:spcBef>
            </a:pPr>
            <a:r>
              <a:rPr sz="1800" spc="15" dirty="0">
                <a:latin typeface="Corbel"/>
                <a:cs typeface="Corbel"/>
              </a:rPr>
              <a:t>Nella </a:t>
            </a:r>
            <a:r>
              <a:rPr sz="1800" spc="10" dirty="0">
                <a:latin typeface="Corbel"/>
                <a:cs typeface="Corbel"/>
              </a:rPr>
              <a:t>biblioteca </a:t>
            </a:r>
            <a:r>
              <a:rPr sz="1800" dirty="0">
                <a:latin typeface="Corbel"/>
                <a:cs typeface="Corbel"/>
              </a:rPr>
              <a:t>è gestita </a:t>
            </a:r>
            <a:r>
              <a:rPr sz="1800" spc="-5" dirty="0">
                <a:latin typeface="Corbel"/>
                <a:cs typeface="Corbel"/>
              </a:rPr>
              <a:t>una </a:t>
            </a:r>
            <a:r>
              <a:rPr sz="1800" spc="5" dirty="0">
                <a:latin typeface="Corbel"/>
                <a:cs typeface="Corbel"/>
              </a:rPr>
              <a:t>notevole </a:t>
            </a:r>
            <a:r>
              <a:rPr sz="1800" spc="-5" dirty="0">
                <a:latin typeface="Corbel"/>
                <a:cs typeface="Corbel"/>
              </a:rPr>
              <a:t>quantità </a:t>
            </a:r>
            <a:r>
              <a:rPr sz="1800" dirty="0">
                <a:latin typeface="Corbel"/>
                <a:cs typeface="Corbel"/>
              </a:rPr>
              <a:t>di </a:t>
            </a:r>
            <a:r>
              <a:rPr sz="1800" spc="-10" dirty="0">
                <a:latin typeface="Corbel"/>
                <a:cs typeface="Corbel"/>
              </a:rPr>
              <a:t>testi </a:t>
            </a:r>
            <a:r>
              <a:rPr sz="1800" spc="5" dirty="0">
                <a:latin typeface="Corbel"/>
                <a:cs typeface="Corbel"/>
              </a:rPr>
              <a:t>universitari, </a:t>
            </a:r>
            <a:r>
              <a:rPr sz="1800" spc="1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presenti </a:t>
            </a:r>
            <a:r>
              <a:rPr sz="1800" spc="15" dirty="0">
                <a:latin typeface="Corbel"/>
                <a:cs typeface="Corbel"/>
              </a:rPr>
              <a:t>in </a:t>
            </a:r>
            <a:r>
              <a:rPr sz="1800" spc="5" dirty="0">
                <a:latin typeface="Corbel"/>
                <a:cs typeface="Corbel"/>
              </a:rPr>
              <a:t>varie </a:t>
            </a:r>
            <a:r>
              <a:rPr sz="1800" spc="15" dirty="0">
                <a:latin typeface="Corbel"/>
                <a:cs typeface="Corbel"/>
              </a:rPr>
              <a:t>copie in </a:t>
            </a:r>
            <a:r>
              <a:rPr sz="1800" spc="5" dirty="0">
                <a:latin typeface="Corbel"/>
                <a:cs typeface="Corbel"/>
              </a:rPr>
              <a:t>modo </a:t>
            </a:r>
            <a:r>
              <a:rPr sz="1800" dirty="0">
                <a:latin typeface="Corbel"/>
                <a:cs typeface="Corbel"/>
              </a:rPr>
              <a:t>tale </a:t>
            </a:r>
            <a:r>
              <a:rPr sz="1800" spc="10" dirty="0">
                <a:latin typeface="Corbel"/>
                <a:cs typeface="Corbel"/>
              </a:rPr>
              <a:t>che </a:t>
            </a:r>
            <a:r>
              <a:rPr sz="1800" spc="15" dirty="0">
                <a:latin typeface="Corbel"/>
                <a:cs typeface="Corbel"/>
              </a:rPr>
              <a:t>le </a:t>
            </a:r>
            <a:r>
              <a:rPr sz="1800" spc="-5" dirty="0">
                <a:latin typeface="Corbel"/>
                <a:cs typeface="Corbel"/>
              </a:rPr>
              <a:t>utenze </a:t>
            </a:r>
            <a:r>
              <a:rPr sz="1800" spc="5" dirty="0">
                <a:latin typeface="Corbel"/>
                <a:cs typeface="Corbel"/>
              </a:rPr>
              <a:t>universitarie </a:t>
            </a:r>
            <a:r>
              <a:rPr sz="1800" spc="10" dirty="0">
                <a:latin typeface="Corbel"/>
                <a:cs typeface="Corbel"/>
              </a:rPr>
              <a:t>possano 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usufruire </a:t>
            </a:r>
            <a:r>
              <a:rPr sz="1800" dirty="0">
                <a:latin typeface="Corbel"/>
                <a:cs typeface="Corbel"/>
              </a:rPr>
              <a:t>di tale </a:t>
            </a:r>
            <a:r>
              <a:rPr sz="1800" spc="10" dirty="0">
                <a:latin typeface="Corbel"/>
                <a:cs typeface="Corbel"/>
              </a:rPr>
              <a:t>servizio. </a:t>
            </a:r>
            <a:r>
              <a:rPr sz="1800" spc="-35" dirty="0">
                <a:latin typeface="Corbel"/>
                <a:cs typeface="Corbel"/>
              </a:rPr>
              <a:t>Tali </a:t>
            </a:r>
            <a:r>
              <a:rPr sz="1800" spc="15" dirty="0" err="1">
                <a:latin typeface="Corbel"/>
                <a:cs typeface="Corbel"/>
              </a:rPr>
              <a:t>copie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lang="it-IT" spc="10" dirty="0">
                <a:latin typeface="Corbel"/>
                <a:cs typeface="Corbel"/>
              </a:rPr>
              <a:t>sono</a:t>
            </a:r>
            <a:r>
              <a:rPr sz="1800" spc="1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distribuite</a:t>
            </a:r>
            <a:r>
              <a:rPr sz="1800" spc="10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in scaffali </a:t>
            </a:r>
            <a:r>
              <a:rPr sz="1800" spc="-5" dirty="0">
                <a:latin typeface="Corbel"/>
                <a:cs typeface="Corbel"/>
              </a:rPr>
              <a:t>numerati </a:t>
            </a:r>
            <a:r>
              <a:rPr sz="180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progressivamente, disposti su diversi </a:t>
            </a:r>
            <a:r>
              <a:rPr sz="1800" spc="15" dirty="0">
                <a:latin typeface="Corbel"/>
                <a:cs typeface="Corbel"/>
              </a:rPr>
              <a:t>piani. </a:t>
            </a:r>
            <a:endParaRPr lang="it-IT" sz="1800" spc="15" dirty="0">
              <a:latin typeface="Corbel"/>
              <a:cs typeface="Corbel"/>
            </a:endParaRPr>
          </a:p>
          <a:p>
            <a:pPr marL="12700" marR="5080">
              <a:lnSpc>
                <a:spcPct val="100099"/>
              </a:lnSpc>
              <a:spcBef>
                <a:spcPts val="100"/>
              </a:spcBef>
            </a:pPr>
            <a:br>
              <a:rPr lang="it-IT" spc="15" dirty="0">
                <a:latin typeface="Corbel"/>
                <a:cs typeface="Corbel"/>
              </a:rPr>
            </a:br>
            <a:r>
              <a:rPr sz="1800" dirty="0">
                <a:latin typeface="Corbel"/>
                <a:cs typeface="Corbel"/>
              </a:rPr>
              <a:t>I </a:t>
            </a:r>
            <a:r>
              <a:rPr sz="1800" spc="10" dirty="0">
                <a:latin typeface="Corbel"/>
                <a:cs typeface="Corbel"/>
              </a:rPr>
              <a:t>libri sono </a:t>
            </a:r>
            <a:r>
              <a:rPr sz="1800" dirty="0">
                <a:latin typeface="Corbel"/>
                <a:cs typeface="Corbel"/>
              </a:rPr>
              <a:t>caratterizzati da </a:t>
            </a:r>
            <a:r>
              <a:rPr sz="1800" spc="5" dirty="0">
                <a:latin typeface="Corbel"/>
                <a:cs typeface="Corbel"/>
              </a:rPr>
              <a:t> d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-10" dirty="0">
                <a:latin typeface="Corbel"/>
                <a:cs typeface="Corbel"/>
              </a:rPr>
              <a:t>v</a:t>
            </a:r>
            <a:r>
              <a:rPr sz="1800" dirty="0">
                <a:latin typeface="Corbel"/>
                <a:cs typeface="Corbel"/>
              </a:rPr>
              <a:t>er</a:t>
            </a:r>
            <a:r>
              <a:rPr sz="1800" spc="15" dirty="0">
                <a:latin typeface="Corbel"/>
                <a:cs typeface="Corbel"/>
              </a:rPr>
              <a:t>s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spc="25" dirty="0">
                <a:latin typeface="Corbel"/>
                <a:cs typeface="Corbel"/>
              </a:rPr>
              <a:t>f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dirty="0">
                <a:latin typeface="Corbel"/>
                <a:cs typeface="Corbel"/>
              </a:rPr>
              <a:t>rm</a:t>
            </a:r>
            <a:r>
              <a:rPr sz="1800" spc="15" dirty="0">
                <a:latin typeface="Corbel"/>
                <a:cs typeface="Corbel"/>
              </a:rPr>
              <a:t>a</a:t>
            </a:r>
            <a:r>
              <a:rPr sz="1800" spc="20" dirty="0">
                <a:latin typeface="Corbel"/>
                <a:cs typeface="Corbel"/>
              </a:rPr>
              <a:t>z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spc="-45" dirty="0">
                <a:latin typeface="Corbel"/>
                <a:cs typeface="Corbel"/>
              </a:rPr>
              <a:t>i</a:t>
            </a:r>
            <a:r>
              <a:rPr sz="1800" dirty="0">
                <a:latin typeface="Corbel"/>
                <a:cs typeface="Corbel"/>
              </a:rPr>
              <a:t>,</a:t>
            </a:r>
            <a:r>
              <a:rPr sz="1800" spc="-16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c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dirty="0">
                <a:latin typeface="Corbel"/>
                <a:cs typeface="Corbel"/>
              </a:rPr>
              <a:t>me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dirty="0">
                <a:latin typeface="Corbel"/>
                <a:cs typeface="Corbel"/>
              </a:rPr>
              <a:t>l</a:t>
            </a:r>
            <a:r>
              <a:rPr sz="1800" spc="-105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c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spc="5" dirty="0">
                <a:latin typeface="Corbel"/>
                <a:cs typeface="Corbel"/>
              </a:rPr>
              <a:t>d</a:t>
            </a:r>
            <a:r>
              <a:rPr sz="1800" spc="30" dirty="0">
                <a:latin typeface="Corbel"/>
                <a:cs typeface="Corbel"/>
              </a:rPr>
              <a:t>ic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I</a:t>
            </a:r>
            <a:r>
              <a:rPr sz="1800" spc="-20" dirty="0">
                <a:latin typeface="Corbel"/>
                <a:cs typeface="Corbel"/>
              </a:rPr>
              <a:t>SB</a:t>
            </a:r>
            <a:r>
              <a:rPr sz="1800" spc="15" dirty="0">
                <a:latin typeface="Corbel"/>
                <a:cs typeface="Corbel"/>
              </a:rPr>
              <a:t>N</a:t>
            </a:r>
            <a:r>
              <a:rPr sz="1800" dirty="0">
                <a:latin typeface="Corbel"/>
                <a:cs typeface="Corbel"/>
              </a:rPr>
              <a:t>,</a:t>
            </a:r>
            <a:r>
              <a:rPr sz="1800" spc="-15" dirty="0">
                <a:latin typeface="Corbel"/>
                <a:cs typeface="Corbel"/>
              </a:rPr>
              <a:t> </a:t>
            </a:r>
            <a:r>
              <a:rPr sz="1800" spc="-35" dirty="0">
                <a:latin typeface="Corbel"/>
                <a:cs typeface="Corbel"/>
              </a:rPr>
              <a:t>u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30" dirty="0">
                <a:latin typeface="Corbel"/>
                <a:cs typeface="Corbel"/>
              </a:rPr>
              <a:t>ili</a:t>
            </a:r>
            <a:r>
              <a:rPr sz="1800" spc="20" dirty="0">
                <a:latin typeface="Corbel"/>
                <a:cs typeface="Corbel"/>
              </a:rPr>
              <a:t>zz</a:t>
            </a:r>
            <a:r>
              <a:rPr sz="1800" spc="10" dirty="0">
                <a:latin typeface="Corbel"/>
                <a:cs typeface="Corbel"/>
              </a:rPr>
              <a:t>a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dirty="0">
                <a:latin typeface="Corbel"/>
                <a:cs typeface="Corbel"/>
              </a:rPr>
              <a:t>o</a:t>
            </a:r>
            <a:r>
              <a:rPr sz="1800" spc="-5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c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dirty="0">
                <a:latin typeface="Corbel"/>
                <a:cs typeface="Corbel"/>
              </a:rPr>
              <a:t>me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5" dirty="0">
                <a:latin typeface="Corbel"/>
                <a:cs typeface="Corbel"/>
              </a:rPr>
              <a:t>d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25" dirty="0">
                <a:latin typeface="Corbel"/>
                <a:cs typeface="Corbel"/>
              </a:rPr>
              <a:t>n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25" dirty="0">
                <a:latin typeface="Corbel"/>
                <a:cs typeface="Corbel"/>
              </a:rPr>
              <a:t>f</a:t>
            </a:r>
            <a:r>
              <a:rPr sz="1800" spc="30" dirty="0">
                <a:latin typeface="Corbel"/>
                <a:cs typeface="Corbel"/>
              </a:rPr>
              <a:t>ic</a:t>
            </a:r>
            <a:r>
              <a:rPr sz="1800" spc="10" dirty="0">
                <a:latin typeface="Corbel"/>
                <a:cs typeface="Corbel"/>
              </a:rPr>
              <a:t>a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dirty="0">
                <a:latin typeface="Corbel"/>
                <a:cs typeface="Corbel"/>
              </a:rPr>
              <a:t>re,</a:t>
            </a:r>
            <a:r>
              <a:rPr sz="1800" spc="-165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dirty="0">
                <a:latin typeface="Corbel"/>
                <a:cs typeface="Corbel"/>
              </a:rPr>
              <a:t>l  titolo, </a:t>
            </a:r>
            <a:r>
              <a:rPr sz="1800" spc="-15" dirty="0">
                <a:latin typeface="Corbel"/>
                <a:cs typeface="Corbel"/>
              </a:rPr>
              <a:t>l’autore, </a:t>
            </a:r>
            <a:r>
              <a:rPr sz="1800" spc="15" dirty="0">
                <a:latin typeface="Corbel"/>
                <a:cs typeface="Corbel"/>
              </a:rPr>
              <a:t>il </a:t>
            </a:r>
            <a:r>
              <a:rPr sz="1800" spc="5" dirty="0">
                <a:latin typeface="Corbel"/>
                <a:cs typeface="Corbel"/>
              </a:rPr>
              <a:t>genere </a:t>
            </a:r>
            <a:r>
              <a:rPr sz="1800" dirty="0">
                <a:latin typeface="Corbel"/>
                <a:cs typeface="Corbel"/>
              </a:rPr>
              <a:t>e </a:t>
            </a:r>
            <a:r>
              <a:rPr sz="1800" spc="15" dirty="0">
                <a:latin typeface="Corbel"/>
                <a:cs typeface="Corbel"/>
              </a:rPr>
              <a:t>la </a:t>
            </a:r>
            <a:r>
              <a:rPr sz="1800" spc="10" dirty="0">
                <a:latin typeface="Corbel"/>
                <a:cs typeface="Corbel"/>
              </a:rPr>
              <a:t>casa </a:t>
            </a:r>
            <a:r>
              <a:rPr sz="1800" spc="5" dirty="0">
                <a:latin typeface="Corbel"/>
                <a:cs typeface="Corbel"/>
              </a:rPr>
              <a:t>editrice. </a:t>
            </a:r>
            <a:br>
              <a:rPr lang="it-IT" sz="1800" spc="5" dirty="0">
                <a:latin typeface="Corbel"/>
                <a:cs typeface="Corbel"/>
              </a:rPr>
            </a:br>
            <a:br>
              <a:rPr lang="it-IT" sz="1800" spc="5" dirty="0">
                <a:latin typeface="Corbel"/>
                <a:cs typeface="Corbel"/>
              </a:rPr>
            </a:br>
            <a:r>
              <a:rPr sz="1800" spc="-20" dirty="0">
                <a:latin typeface="Corbel"/>
                <a:cs typeface="Corbel"/>
              </a:rPr>
              <a:t>Per </a:t>
            </a:r>
            <a:r>
              <a:rPr sz="1800" spc="10" dirty="0">
                <a:latin typeface="Corbel"/>
                <a:cs typeface="Corbel"/>
              </a:rPr>
              <a:t>ogni </a:t>
            </a:r>
            <a:r>
              <a:rPr sz="1800" spc="-10" dirty="0">
                <a:latin typeface="Corbel"/>
                <a:cs typeface="Corbel"/>
              </a:rPr>
              <a:t>autore, </a:t>
            </a:r>
            <a:r>
              <a:rPr sz="1800" spc="10" dirty="0">
                <a:latin typeface="Corbel"/>
                <a:cs typeface="Corbel"/>
              </a:rPr>
              <a:t>bisogna </a:t>
            </a:r>
            <a:r>
              <a:rPr sz="1800" dirty="0">
                <a:latin typeface="Corbel"/>
                <a:cs typeface="Corbel"/>
              </a:rPr>
              <a:t>tenere </a:t>
            </a:r>
            <a:r>
              <a:rPr sz="1800" spc="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traccia</a:t>
            </a:r>
            <a:r>
              <a:rPr sz="1800" spc="-12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delle</a:t>
            </a:r>
            <a:r>
              <a:rPr sz="1800" spc="-55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informazioni</a:t>
            </a:r>
            <a:r>
              <a:rPr sz="1800" spc="-18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relative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a</a:t>
            </a:r>
            <a:r>
              <a:rPr sz="1800" spc="3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nome,</a:t>
            </a:r>
            <a:r>
              <a:rPr sz="1800" spc="-8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cognome,</a:t>
            </a:r>
            <a:r>
              <a:rPr sz="1800" spc="-8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sesso,</a:t>
            </a:r>
            <a:r>
              <a:rPr sz="1800" spc="-8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luogo</a:t>
            </a:r>
            <a:r>
              <a:rPr sz="1800" spc="-5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2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anno</a:t>
            </a:r>
            <a:r>
              <a:rPr sz="1800" spc="-4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di </a:t>
            </a:r>
            <a:r>
              <a:rPr sz="1800" spc="-35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nascita, </a:t>
            </a:r>
            <a:r>
              <a:rPr sz="1800" spc="-5" dirty="0">
                <a:latin typeface="Corbel"/>
                <a:cs typeface="Corbel"/>
              </a:rPr>
              <a:t>usufruendo </a:t>
            </a:r>
            <a:r>
              <a:rPr sz="1800" spc="5" dirty="0">
                <a:latin typeface="Corbel"/>
                <a:cs typeface="Corbel"/>
              </a:rPr>
              <a:t>al contempo </a:t>
            </a:r>
            <a:r>
              <a:rPr sz="1800" dirty="0">
                <a:latin typeface="Corbel"/>
                <a:cs typeface="Corbel"/>
              </a:rPr>
              <a:t>di </a:t>
            </a:r>
            <a:r>
              <a:rPr sz="1800" spc="-20" dirty="0">
                <a:latin typeface="Corbel"/>
                <a:cs typeface="Corbel"/>
              </a:rPr>
              <a:t>un </a:t>
            </a:r>
            <a:r>
              <a:rPr sz="1800" spc="15" dirty="0">
                <a:latin typeface="Corbel"/>
                <a:cs typeface="Corbel"/>
              </a:rPr>
              <a:t>codice </a:t>
            </a:r>
            <a:r>
              <a:rPr sz="1800" spc="5" dirty="0">
                <a:latin typeface="Corbel"/>
                <a:cs typeface="Corbel"/>
              </a:rPr>
              <a:t>per </a:t>
            </a:r>
            <a:r>
              <a:rPr sz="1800" spc="10" dirty="0">
                <a:latin typeface="Corbel"/>
                <a:cs typeface="Corbel"/>
              </a:rPr>
              <a:t>l’identificazione </a:t>
            </a:r>
            <a:r>
              <a:rPr sz="1800" dirty="0">
                <a:latin typeface="Corbel"/>
                <a:cs typeface="Corbel"/>
              </a:rPr>
              <a:t>dei vari </a:t>
            </a:r>
            <a:r>
              <a:rPr sz="1800" spc="5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autori. </a:t>
            </a:r>
            <a:br>
              <a:rPr lang="it-IT" sz="1800" spc="-5" dirty="0">
                <a:latin typeface="Corbel"/>
                <a:cs typeface="Corbel"/>
              </a:rPr>
            </a:br>
            <a:br>
              <a:rPr lang="it-IT" sz="1800" spc="-5" dirty="0">
                <a:latin typeface="Corbel"/>
                <a:cs typeface="Corbel"/>
              </a:rPr>
            </a:br>
            <a:r>
              <a:rPr sz="1800" spc="-20" dirty="0">
                <a:latin typeface="Corbel"/>
                <a:cs typeface="Corbel"/>
              </a:rPr>
              <a:t>Per </a:t>
            </a:r>
            <a:r>
              <a:rPr sz="1800" spc="10" dirty="0">
                <a:latin typeface="Corbel"/>
                <a:cs typeface="Corbel"/>
              </a:rPr>
              <a:t>ogni </a:t>
            </a:r>
            <a:r>
              <a:rPr sz="1800" spc="5" dirty="0">
                <a:latin typeface="Corbel"/>
                <a:cs typeface="Corbel"/>
              </a:rPr>
              <a:t>genere </a:t>
            </a:r>
            <a:r>
              <a:rPr sz="1800" dirty="0">
                <a:latin typeface="Corbel"/>
                <a:cs typeface="Corbel"/>
              </a:rPr>
              <a:t>letterario è </a:t>
            </a:r>
            <a:r>
              <a:rPr sz="1800" spc="5" dirty="0">
                <a:latin typeface="Corbel"/>
                <a:cs typeface="Corbel"/>
              </a:rPr>
              <a:t>fornito </a:t>
            </a:r>
            <a:r>
              <a:rPr sz="1800" spc="-20" dirty="0">
                <a:latin typeface="Corbel"/>
                <a:cs typeface="Corbel"/>
              </a:rPr>
              <a:t>un </a:t>
            </a:r>
            <a:r>
              <a:rPr sz="1800" spc="5" dirty="0">
                <a:latin typeface="Corbel"/>
                <a:cs typeface="Corbel"/>
              </a:rPr>
              <a:t>nome, utilizzato </a:t>
            </a:r>
            <a:r>
              <a:rPr sz="1800" spc="10" dirty="0">
                <a:latin typeface="Corbel"/>
                <a:cs typeface="Corbel"/>
              </a:rPr>
              <a:t>come 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5" dirty="0">
                <a:latin typeface="Corbel"/>
                <a:cs typeface="Corbel"/>
              </a:rPr>
              <a:t>d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25" dirty="0">
                <a:latin typeface="Corbel"/>
                <a:cs typeface="Corbel"/>
              </a:rPr>
              <a:t>n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25" dirty="0">
                <a:latin typeface="Corbel"/>
                <a:cs typeface="Corbel"/>
              </a:rPr>
              <a:t>f</a:t>
            </a:r>
            <a:r>
              <a:rPr sz="1800" spc="30" dirty="0">
                <a:latin typeface="Corbel"/>
                <a:cs typeface="Corbel"/>
              </a:rPr>
              <a:t>ic</a:t>
            </a:r>
            <a:r>
              <a:rPr sz="1800" spc="10" dirty="0">
                <a:latin typeface="Corbel"/>
                <a:cs typeface="Corbel"/>
              </a:rPr>
              <a:t>a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dirty="0">
                <a:latin typeface="Corbel"/>
                <a:cs typeface="Corbel"/>
              </a:rPr>
              <a:t>re,</a:t>
            </a:r>
            <a:r>
              <a:rPr sz="1800" spc="-16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-35" dirty="0">
                <a:latin typeface="Corbel"/>
                <a:cs typeface="Corbel"/>
              </a:rPr>
              <a:t>u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dirty="0">
                <a:latin typeface="Corbel"/>
                <a:cs typeface="Corbel"/>
              </a:rPr>
              <a:t>a</a:t>
            </a:r>
            <a:r>
              <a:rPr sz="1800" spc="2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b</a:t>
            </a:r>
            <a:r>
              <a:rPr sz="1800" dirty="0">
                <a:latin typeface="Corbel"/>
                <a:cs typeface="Corbel"/>
              </a:rPr>
              <a:t>re</a:t>
            </a:r>
            <a:r>
              <a:rPr sz="1800" spc="-10" dirty="0">
                <a:latin typeface="Corbel"/>
                <a:cs typeface="Corbel"/>
              </a:rPr>
              <a:t>v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d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20" dirty="0">
                <a:latin typeface="Corbel"/>
                <a:cs typeface="Corbel"/>
              </a:rPr>
              <a:t>s</a:t>
            </a:r>
            <a:r>
              <a:rPr sz="1800" spc="30" dirty="0">
                <a:latin typeface="Corbel"/>
                <a:cs typeface="Corbel"/>
              </a:rPr>
              <a:t>c</a:t>
            </a:r>
            <a:r>
              <a:rPr sz="1800" dirty="0">
                <a:latin typeface="Corbel"/>
                <a:cs typeface="Corbel"/>
              </a:rPr>
              <a:t>r</a:t>
            </a:r>
            <a:r>
              <a:rPr sz="1800" spc="25" dirty="0">
                <a:latin typeface="Corbel"/>
                <a:cs typeface="Corbel"/>
              </a:rPr>
              <a:t>i</a:t>
            </a:r>
            <a:r>
              <a:rPr sz="1800" spc="20" dirty="0">
                <a:latin typeface="Corbel"/>
                <a:cs typeface="Corbel"/>
              </a:rPr>
              <a:t>z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10" dirty="0">
                <a:latin typeface="Corbel"/>
                <a:cs typeface="Corbel"/>
              </a:rPr>
              <a:t>o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re</a:t>
            </a:r>
            <a:r>
              <a:rPr sz="1800" spc="25" dirty="0">
                <a:latin typeface="Corbel"/>
                <a:cs typeface="Corbel"/>
              </a:rPr>
              <a:t>l</a:t>
            </a:r>
            <a:r>
              <a:rPr sz="1800" spc="10" dirty="0">
                <a:latin typeface="Corbel"/>
                <a:cs typeface="Corbel"/>
              </a:rPr>
              <a:t>a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-10" dirty="0">
                <a:latin typeface="Corbel"/>
                <a:cs typeface="Corbel"/>
              </a:rPr>
              <a:t>v</a:t>
            </a:r>
            <a:r>
              <a:rPr sz="1800" dirty="0">
                <a:latin typeface="Corbel"/>
                <a:cs typeface="Corbel"/>
              </a:rPr>
              <a:t>a</a:t>
            </a:r>
            <a:r>
              <a:rPr sz="1800" spc="-12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a</a:t>
            </a:r>
            <a:r>
              <a:rPr sz="1800" spc="25" dirty="0">
                <a:latin typeface="Corbel"/>
                <a:cs typeface="Corbel"/>
              </a:rPr>
              <a:t> </a:t>
            </a:r>
            <a:r>
              <a:rPr sz="1800" spc="-30" dirty="0">
                <a:latin typeface="Corbel"/>
                <a:cs typeface="Corbel"/>
              </a:rPr>
              <a:t>t</a:t>
            </a:r>
            <a:r>
              <a:rPr sz="1800" spc="10" dirty="0">
                <a:latin typeface="Corbel"/>
                <a:cs typeface="Corbel"/>
              </a:rPr>
              <a:t>a</a:t>
            </a:r>
            <a:r>
              <a:rPr sz="1800" spc="30" dirty="0">
                <a:latin typeface="Corbel"/>
                <a:cs typeface="Corbel"/>
              </a:rPr>
              <a:t>l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g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25" dirty="0">
                <a:latin typeface="Corbel"/>
                <a:cs typeface="Corbel"/>
              </a:rPr>
              <a:t>n</a:t>
            </a:r>
            <a:r>
              <a:rPr sz="1800" dirty="0">
                <a:latin typeface="Corbel"/>
                <a:cs typeface="Corbel"/>
              </a:rPr>
              <a:t>ere.</a:t>
            </a:r>
            <a:r>
              <a:rPr sz="1800" spc="-1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I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spc="25" dirty="0">
                <a:latin typeface="Corbel"/>
                <a:cs typeface="Corbel"/>
              </a:rPr>
              <a:t>f</a:t>
            </a:r>
            <a:r>
              <a:rPr sz="1800" spc="30" dirty="0">
                <a:latin typeface="Corbel"/>
                <a:cs typeface="Corbel"/>
              </a:rPr>
              <a:t>i</a:t>
            </a:r>
            <a:r>
              <a:rPr sz="1800" spc="20" dirty="0">
                <a:latin typeface="Corbel"/>
                <a:cs typeface="Corbel"/>
              </a:rPr>
              <a:t>n</a:t>
            </a:r>
            <a:r>
              <a:rPr sz="1800" dirty="0">
                <a:latin typeface="Corbel"/>
                <a:cs typeface="Corbel"/>
              </a:rPr>
              <a:t>e,</a:t>
            </a:r>
            <a:r>
              <a:rPr sz="1800" spc="-160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p</a:t>
            </a:r>
            <a:r>
              <a:rPr sz="1800" dirty="0">
                <a:latin typeface="Corbel"/>
                <a:cs typeface="Corbel"/>
              </a:rPr>
              <a:t>er</a:t>
            </a:r>
            <a:r>
              <a:rPr sz="1800" spc="10" dirty="0">
                <a:latin typeface="Corbel"/>
                <a:cs typeface="Corbel"/>
              </a:rPr>
              <a:t> </a:t>
            </a:r>
            <a:r>
              <a:rPr sz="1800" spc="30" dirty="0">
                <a:latin typeface="Corbel"/>
                <a:cs typeface="Corbel"/>
              </a:rPr>
              <a:t>l</a:t>
            </a:r>
            <a:r>
              <a:rPr sz="1800" dirty="0">
                <a:latin typeface="Corbel"/>
                <a:cs typeface="Corbel"/>
              </a:rPr>
              <a:t>a  </a:t>
            </a:r>
            <a:r>
              <a:rPr sz="1800" spc="10" dirty="0">
                <a:latin typeface="Corbel"/>
                <a:cs typeface="Corbel"/>
              </a:rPr>
              <a:t>casa</a:t>
            </a:r>
            <a:r>
              <a:rPr sz="1800" spc="-5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editrice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è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sufficiente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gestire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informazioni</a:t>
            </a:r>
            <a:r>
              <a:rPr sz="1800" spc="-18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relative</a:t>
            </a:r>
            <a:r>
              <a:rPr sz="1800" spc="-13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a</a:t>
            </a:r>
            <a:r>
              <a:rPr sz="1800" spc="2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sede</a:t>
            </a:r>
            <a:r>
              <a:rPr sz="1800" spc="-5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e</a:t>
            </a:r>
            <a:r>
              <a:rPr sz="1800" spc="1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ad</a:t>
            </a:r>
            <a:r>
              <a:rPr sz="1800" spc="20" dirty="0">
                <a:latin typeface="Corbel"/>
                <a:cs typeface="Corbel"/>
              </a:rPr>
              <a:t> </a:t>
            </a:r>
            <a:r>
              <a:rPr sz="1800" spc="-20" dirty="0">
                <a:latin typeface="Corbel"/>
                <a:cs typeface="Corbel"/>
              </a:rPr>
              <a:t>un</a:t>
            </a:r>
            <a:endParaRPr sz="1800" dirty="0">
              <a:latin typeface="Corbel"/>
              <a:cs typeface="Corbel"/>
            </a:endParaRPr>
          </a:p>
          <a:p>
            <a:pPr marL="12700" marR="218440">
              <a:lnSpc>
                <a:spcPct val="100800"/>
              </a:lnSpc>
            </a:pPr>
            <a:r>
              <a:rPr sz="1800" spc="5" dirty="0">
                <a:latin typeface="Corbel"/>
                <a:cs typeface="Corbel"/>
              </a:rPr>
              <a:t>nome,</a:t>
            </a:r>
            <a:r>
              <a:rPr sz="1800" spc="-7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che</a:t>
            </a:r>
            <a:r>
              <a:rPr sz="1800" spc="35" dirty="0">
                <a:latin typeface="Corbel"/>
                <a:cs typeface="Corbel"/>
              </a:rPr>
              <a:t> </a:t>
            </a:r>
            <a:r>
              <a:rPr sz="1800" spc="20" dirty="0">
                <a:latin typeface="Corbel"/>
                <a:cs typeface="Corbel"/>
              </a:rPr>
              <a:t>coincide</a:t>
            </a:r>
            <a:r>
              <a:rPr sz="1800" spc="-12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con</a:t>
            </a:r>
            <a:r>
              <a:rPr sz="1800" spc="-10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l’identificatore</a:t>
            </a:r>
            <a:r>
              <a:rPr sz="1800" spc="-13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della</a:t>
            </a:r>
            <a:r>
              <a:rPr sz="1800" spc="-110" dirty="0">
                <a:latin typeface="Corbel"/>
                <a:cs typeface="Corbel"/>
              </a:rPr>
              <a:t> </a:t>
            </a:r>
            <a:r>
              <a:rPr sz="1800" spc="-10" dirty="0">
                <a:latin typeface="Corbel"/>
                <a:cs typeface="Corbel"/>
              </a:rPr>
              <a:t>suddetta</a:t>
            </a:r>
            <a:r>
              <a:rPr sz="1800" spc="-3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casa</a:t>
            </a:r>
            <a:r>
              <a:rPr sz="1800" spc="65" dirty="0">
                <a:latin typeface="Corbel"/>
                <a:cs typeface="Corbel"/>
              </a:rPr>
              <a:t> </a:t>
            </a:r>
            <a:r>
              <a:rPr sz="1800" dirty="0" err="1">
                <a:latin typeface="Corbel"/>
                <a:cs typeface="Corbel"/>
              </a:rPr>
              <a:t>editrice</a:t>
            </a:r>
            <a:r>
              <a:rPr sz="1800" dirty="0">
                <a:latin typeface="Corbel"/>
                <a:cs typeface="Corbel"/>
              </a:rPr>
              <a:t>.</a:t>
            </a:r>
            <a:br>
              <a:rPr lang="it-IT" sz="1800" dirty="0">
                <a:latin typeface="Corbel"/>
                <a:cs typeface="Corbel"/>
              </a:rPr>
            </a:br>
            <a:br>
              <a:rPr lang="it-IT" sz="1800" dirty="0">
                <a:latin typeface="Corbel"/>
                <a:cs typeface="Corbel"/>
              </a:rPr>
            </a:br>
            <a:r>
              <a:rPr sz="1800" dirty="0">
                <a:latin typeface="Corbel"/>
                <a:cs typeface="Corbel"/>
              </a:rPr>
              <a:t>I</a:t>
            </a:r>
            <a:r>
              <a:rPr sz="1800" spc="-25" dirty="0">
                <a:latin typeface="Corbel"/>
                <a:cs typeface="Corbel"/>
              </a:rPr>
              <a:t> </a:t>
            </a:r>
            <a:r>
              <a:rPr sz="1800" spc="-10" dirty="0">
                <a:latin typeface="Corbel"/>
                <a:cs typeface="Corbel"/>
              </a:rPr>
              <a:t>testi </a:t>
            </a:r>
            <a:r>
              <a:rPr sz="1800" spc="-34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possono</a:t>
            </a:r>
            <a:r>
              <a:rPr sz="1800" spc="-12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essere</a:t>
            </a:r>
            <a:r>
              <a:rPr sz="1800" spc="-6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presi</a:t>
            </a:r>
            <a:r>
              <a:rPr sz="1800" spc="-35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in</a:t>
            </a:r>
            <a:r>
              <a:rPr sz="1800" spc="-4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prestito,</a:t>
            </a:r>
            <a:r>
              <a:rPr sz="1800" spc="-90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attraverso</a:t>
            </a:r>
            <a:r>
              <a:rPr sz="1800" spc="30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una</a:t>
            </a:r>
            <a:r>
              <a:rPr sz="1800" spc="2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richiesta</a:t>
            </a:r>
            <a:r>
              <a:rPr sz="1800" spc="-125" dirty="0">
                <a:latin typeface="Corbel"/>
                <a:cs typeface="Corbel"/>
              </a:rPr>
              <a:t> </a:t>
            </a:r>
            <a:r>
              <a:rPr sz="1800" spc="-5" dirty="0" err="1">
                <a:latin typeface="Corbel"/>
                <a:cs typeface="Corbel"/>
              </a:rPr>
              <a:t>effettuata</a:t>
            </a:r>
            <a:r>
              <a:rPr sz="1800" spc="25" dirty="0">
                <a:latin typeface="Corbel"/>
                <a:cs typeface="Corbel"/>
              </a:rPr>
              <a:t> </a:t>
            </a:r>
            <a:r>
              <a:rPr sz="1800" spc="15" dirty="0">
                <a:latin typeface="Corbel"/>
                <a:cs typeface="Corbel"/>
              </a:rPr>
              <a:t>alla</a:t>
            </a:r>
            <a:r>
              <a:rPr lang="it-IT" dirty="0">
                <a:latin typeface="Corbel"/>
                <a:cs typeface="Corbel"/>
              </a:rPr>
              <a:t> </a:t>
            </a:r>
            <a:r>
              <a:rPr sz="1800" spc="10" dirty="0" err="1">
                <a:latin typeface="Corbel"/>
                <a:cs typeface="Corbel"/>
              </a:rPr>
              <a:t>biblioteca</a:t>
            </a:r>
            <a:r>
              <a:rPr sz="1800" spc="10" dirty="0">
                <a:latin typeface="Corbel"/>
                <a:cs typeface="Corbel"/>
              </a:rPr>
              <a:t>, dagli </a:t>
            </a:r>
            <a:r>
              <a:rPr sz="1800" spc="-15" dirty="0">
                <a:latin typeface="Corbel"/>
                <a:cs typeface="Corbel"/>
              </a:rPr>
              <a:t>utenti </a:t>
            </a:r>
            <a:r>
              <a:rPr sz="1800" spc="10" dirty="0">
                <a:latin typeface="Corbel"/>
                <a:cs typeface="Corbel"/>
              </a:rPr>
              <a:t>della </a:t>
            </a:r>
            <a:r>
              <a:rPr sz="1800" spc="5" dirty="0">
                <a:latin typeface="Corbel"/>
                <a:cs typeface="Corbel"/>
              </a:rPr>
              <a:t>medesima. </a:t>
            </a:r>
            <a:r>
              <a:rPr sz="1800" spc="-35" dirty="0">
                <a:latin typeface="Corbel"/>
                <a:cs typeface="Corbel"/>
              </a:rPr>
              <a:t>Tali </a:t>
            </a:r>
            <a:r>
              <a:rPr sz="1800" spc="-15" dirty="0">
                <a:latin typeface="Corbel"/>
                <a:cs typeface="Corbel"/>
              </a:rPr>
              <a:t>utenti </a:t>
            </a:r>
            <a:r>
              <a:rPr sz="1800" spc="5" dirty="0" err="1">
                <a:latin typeface="Corbel"/>
                <a:cs typeface="Corbel"/>
              </a:rPr>
              <a:t>devono</a:t>
            </a:r>
            <a:r>
              <a:rPr sz="1800" spc="5" dirty="0">
                <a:latin typeface="Corbel"/>
                <a:cs typeface="Corbel"/>
              </a:rPr>
              <a:t> </a:t>
            </a:r>
            <a:r>
              <a:rPr lang="it-IT" spc="10" dirty="0">
                <a:latin typeface="Corbel"/>
                <a:cs typeface="Corbel"/>
              </a:rPr>
              <a:t> </a:t>
            </a:r>
            <a:r>
              <a:rPr sz="1800" spc="5" dirty="0" err="1">
                <a:latin typeface="Corbel"/>
                <a:cs typeface="Corbel"/>
              </a:rPr>
              <a:t>necessariamente</a:t>
            </a:r>
            <a:r>
              <a:rPr sz="1800" spc="-13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appartenere</a:t>
            </a:r>
            <a:r>
              <a:rPr sz="1800" spc="-125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ad</a:t>
            </a:r>
            <a:r>
              <a:rPr sz="1800" spc="30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una</a:t>
            </a:r>
            <a:r>
              <a:rPr sz="1800" spc="-35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sola</a:t>
            </a:r>
            <a:r>
              <a:rPr sz="1800" spc="-40" dirty="0">
                <a:latin typeface="Corbel"/>
                <a:cs typeface="Corbel"/>
              </a:rPr>
              <a:t> </a:t>
            </a:r>
            <a:r>
              <a:rPr sz="1800" spc="10" dirty="0">
                <a:latin typeface="Corbel"/>
                <a:cs typeface="Corbel"/>
              </a:rPr>
              <a:t>delle</a:t>
            </a:r>
            <a:r>
              <a:rPr sz="1800" spc="-50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seguenti</a:t>
            </a:r>
            <a:r>
              <a:rPr sz="1800" spc="-25" dirty="0">
                <a:latin typeface="Corbel"/>
                <a:cs typeface="Corbel"/>
              </a:rPr>
              <a:t> </a:t>
            </a:r>
            <a:r>
              <a:rPr sz="1800" spc="5" dirty="0" err="1">
                <a:latin typeface="Corbel"/>
                <a:cs typeface="Corbel"/>
              </a:rPr>
              <a:t>categorie</a:t>
            </a:r>
            <a:r>
              <a:rPr sz="1800" spc="5" dirty="0">
                <a:latin typeface="Corbel"/>
                <a:cs typeface="Corbel"/>
              </a:rPr>
              <a:t>:</a:t>
            </a:r>
            <a:r>
              <a:rPr lang="it-IT" dirty="0">
                <a:latin typeface="Corbel"/>
                <a:cs typeface="Corbel"/>
              </a:rPr>
              <a:t> </a:t>
            </a:r>
            <a:r>
              <a:rPr sz="1800" spc="-10" dirty="0" err="1">
                <a:latin typeface="Corbel"/>
                <a:cs typeface="Corbel"/>
              </a:rPr>
              <a:t>Studente</a:t>
            </a:r>
            <a:r>
              <a:rPr sz="1800" spc="-10" dirty="0">
                <a:latin typeface="Corbel"/>
                <a:cs typeface="Corbel"/>
              </a:rPr>
              <a:t>,</a:t>
            </a:r>
            <a:r>
              <a:rPr sz="1800" spc="5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Dottorando,</a:t>
            </a:r>
            <a:r>
              <a:rPr sz="1800" spc="-1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Docente</a:t>
            </a:r>
            <a:r>
              <a:rPr sz="1800" spc="-6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o</a:t>
            </a:r>
            <a:r>
              <a:rPr sz="1800" spc="20" dirty="0">
                <a:latin typeface="Corbel"/>
                <a:cs typeface="Corbel"/>
              </a:rPr>
              <a:t> </a:t>
            </a:r>
            <a:r>
              <a:rPr sz="1800" spc="5" dirty="0">
                <a:latin typeface="Corbel"/>
                <a:cs typeface="Corbel"/>
              </a:rPr>
              <a:t>Ricercatore</a:t>
            </a:r>
            <a:endParaRPr sz="1800" dirty="0">
              <a:latin typeface="Corbel"/>
              <a:cs typeface="Corbel"/>
            </a:endParaRPr>
          </a:p>
        </p:txBody>
      </p:sp>
    </p:spTree>
    <p:extLst>
      <p:ext uri="{BB962C8B-B14F-4D97-AF65-F5344CB8AC3E}">
        <p14:creationId xmlns:p14="http://schemas.microsoft.com/office/powerpoint/2010/main" val="2287517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5D26D96F-4947-38F1-922E-4AE924ED00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7219" y="141224"/>
            <a:ext cx="4768215" cy="6324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pc="5" dirty="0"/>
              <a:t>Capire</a:t>
            </a:r>
            <a:r>
              <a:rPr spc="55" dirty="0"/>
              <a:t> </a:t>
            </a:r>
            <a:r>
              <a:rPr spc="-10" dirty="0"/>
              <a:t>cosa</a:t>
            </a:r>
            <a:r>
              <a:rPr spc="95" dirty="0"/>
              <a:t> </a:t>
            </a:r>
            <a:r>
              <a:rPr dirty="0"/>
              <a:t>progettare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035FAB54-0E6B-08C5-E7E8-9D56ABE5B2FF}"/>
              </a:ext>
            </a:extLst>
          </p:cNvPr>
          <p:cNvSpPr txBox="1"/>
          <p:nvPr/>
        </p:nvSpPr>
        <p:spPr>
          <a:xfrm>
            <a:off x="617219" y="681816"/>
            <a:ext cx="6329045" cy="841192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35560">
              <a:lnSpc>
                <a:spcPct val="100800"/>
              </a:lnSpc>
            </a:pPr>
            <a:endParaRPr lang="it-IT" spc="-10" dirty="0">
              <a:latin typeface="Corbel"/>
              <a:cs typeface="Corbel"/>
            </a:endParaRPr>
          </a:p>
          <a:p>
            <a:pPr marL="298450" marR="35560" indent="-285750">
              <a:lnSpc>
                <a:spcPct val="100800"/>
              </a:lnSpc>
              <a:buFont typeface="Arial" panose="020B0604020202020204" pitchFamily="34" charset="0"/>
              <a:buChar char="•"/>
            </a:pPr>
            <a:r>
              <a:rPr lang="it-IT" sz="1800" spc="-10" dirty="0">
                <a:latin typeface="Corbel"/>
                <a:cs typeface="Corbel"/>
              </a:rPr>
              <a:t>Ev</a:t>
            </a:r>
            <a:r>
              <a:rPr lang="it-IT" sz="1800" spc="30" dirty="0">
                <a:latin typeface="Corbel"/>
                <a:cs typeface="Corbel"/>
              </a:rPr>
              <a:t>i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10" dirty="0">
                <a:latin typeface="Corbel"/>
                <a:cs typeface="Corbel"/>
              </a:rPr>
              <a:t>a</a:t>
            </a:r>
            <a:r>
              <a:rPr lang="it-IT" sz="1800" dirty="0">
                <a:latin typeface="Corbel"/>
                <a:cs typeface="Corbel"/>
              </a:rPr>
              <a:t>re</a:t>
            </a:r>
            <a:r>
              <a:rPr lang="it-IT" sz="1800" spc="10" dirty="0">
                <a:latin typeface="Corbel"/>
                <a:cs typeface="Corbel"/>
              </a:rPr>
              <a:t> </a:t>
            </a:r>
            <a:r>
              <a:rPr lang="it-IT" sz="1800" spc="25" dirty="0">
                <a:latin typeface="Corbel"/>
                <a:cs typeface="Corbel"/>
              </a:rPr>
              <a:t>f</a:t>
            </a:r>
            <a:r>
              <a:rPr lang="it-IT" sz="1800" dirty="0">
                <a:latin typeface="Corbel"/>
                <a:cs typeface="Corbel"/>
              </a:rPr>
              <a:t>r</a:t>
            </a:r>
            <a:r>
              <a:rPr lang="it-IT" sz="1800" spc="10" dirty="0">
                <a:latin typeface="Corbel"/>
                <a:cs typeface="Corbel"/>
              </a:rPr>
              <a:t>a</a:t>
            </a:r>
            <a:r>
              <a:rPr lang="it-IT" sz="1800" spc="15" dirty="0">
                <a:latin typeface="Corbel"/>
                <a:cs typeface="Corbel"/>
              </a:rPr>
              <a:t>s</a:t>
            </a:r>
            <a:r>
              <a:rPr lang="it-IT" sz="1800" dirty="0">
                <a:latin typeface="Corbel"/>
                <a:cs typeface="Corbel"/>
              </a:rPr>
              <a:t>i</a:t>
            </a:r>
            <a:r>
              <a:rPr lang="it-IT" sz="1800" spc="-105" dirty="0">
                <a:latin typeface="Corbel"/>
                <a:cs typeface="Corbel"/>
              </a:rPr>
              <a:t> </a:t>
            </a:r>
            <a:r>
              <a:rPr lang="it-IT" sz="1800" spc="30" dirty="0">
                <a:latin typeface="Corbel"/>
                <a:cs typeface="Corbel"/>
              </a:rPr>
              <a:t>c</a:t>
            </a:r>
            <a:r>
              <a:rPr lang="it-IT" sz="1800" spc="10" dirty="0">
                <a:latin typeface="Corbel"/>
                <a:cs typeface="Corbel"/>
              </a:rPr>
              <a:t>o</a:t>
            </a:r>
            <a:r>
              <a:rPr lang="it-IT" sz="1800" spc="20" dirty="0">
                <a:latin typeface="Corbel"/>
                <a:cs typeface="Corbel"/>
              </a:rPr>
              <a:t>n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10" dirty="0">
                <a:latin typeface="Corbel"/>
                <a:cs typeface="Corbel"/>
              </a:rPr>
              <a:t>o</a:t>
            </a:r>
            <a:r>
              <a:rPr lang="it-IT" sz="1800" dirty="0">
                <a:latin typeface="Corbel"/>
                <a:cs typeface="Corbel"/>
              </a:rPr>
              <a:t>r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dirty="0">
                <a:latin typeface="Corbel"/>
                <a:cs typeface="Corbel"/>
              </a:rPr>
              <a:t>e</a:t>
            </a:r>
          </a:p>
          <a:p>
            <a:pPr marL="298450" marR="35560" indent="-285750">
              <a:lnSpc>
                <a:spcPct val="100800"/>
              </a:lnSpc>
              <a:buFont typeface="Arial" panose="020B0604020202020204" pitchFamily="34" charset="0"/>
              <a:buChar char="•"/>
            </a:pPr>
            <a:r>
              <a:rPr lang="it-IT" sz="1800" spc="5" dirty="0">
                <a:latin typeface="Corbel"/>
                <a:cs typeface="Corbel"/>
              </a:rPr>
              <a:t>Individuare</a:t>
            </a:r>
            <a:r>
              <a:rPr lang="it-IT" sz="1800" spc="-14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Sinonimi</a:t>
            </a:r>
            <a:r>
              <a:rPr lang="it-IT" sz="1800" spc="-105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-6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unificare</a:t>
            </a:r>
            <a:r>
              <a:rPr lang="it-IT" sz="1800" spc="-140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i</a:t>
            </a:r>
            <a:r>
              <a:rPr lang="it-IT" sz="1800" spc="40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termini</a:t>
            </a:r>
            <a:endParaRPr lang="it-IT" dirty="0">
              <a:latin typeface="Corbel"/>
              <a:cs typeface="Corbel"/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818E22B-268C-33AA-7D39-CEB341311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633" y="1951668"/>
            <a:ext cx="6080616" cy="456654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675CFA3-9142-3FE7-94AC-4EEA2175F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369" y="53066"/>
            <a:ext cx="4996870" cy="6751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00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E8F0A6-57E2-B328-499E-ED20E9F27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Capire come progettare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298121-CBBF-9ED0-C9AC-FC8485FB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76" y="1346782"/>
            <a:ext cx="7712488" cy="3880773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Lo sviluppo</a:t>
            </a:r>
            <a:r>
              <a:rPr lang="it-IT" sz="1800" spc="-12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di</a:t>
            </a:r>
            <a:r>
              <a:rPr lang="it-IT" sz="1800" spc="4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uno</a:t>
            </a:r>
            <a:r>
              <a:rPr lang="it-IT" sz="1800" spc="-5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schema</a:t>
            </a:r>
            <a:r>
              <a:rPr lang="it-IT" sz="1800" spc="-4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concettuale può avvenire attraverso diverse strategie di progettazione.</a:t>
            </a:r>
            <a:r>
              <a:rPr lang="it-IT" sz="1800" spc="-5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Tra quelle</a:t>
            </a:r>
            <a:r>
              <a:rPr lang="it-IT" sz="1800" spc="-4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studiate,</a:t>
            </a:r>
            <a:r>
              <a:rPr lang="it-IT" sz="1800" spc="2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ho</a:t>
            </a:r>
            <a:r>
              <a:rPr lang="it-IT" sz="1800" spc="-114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scelto</a:t>
            </a:r>
            <a:r>
              <a:rPr lang="it-IT" sz="1800" spc="-4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di utilizzare </a:t>
            </a:r>
            <a:r>
              <a:rPr lang="it-IT" sz="18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la</a:t>
            </a:r>
            <a:r>
              <a:rPr lang="it-IT" sz="1800" spc="-3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strategia </a:t>
            </a:r>
            <a:r>
              <a:rPr lang="it-IT" sz="1800" spc="-34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Inside-out, </a:t>
            </a:r>
            <a:r>
              <a:rPr lang="it-IT" dirty="0">
                <a:solidFill>
                  <a:schemeClr val="tx1"/>
                </a:solidFill>
                <a:latin typeface="Corbel" panose="020B0503020204020204" pitchFamily="34" charset="0"/>
              </a:rPr>
              <a:t>partendo dall’entità principale </a:t>
            </a:r>
            <a:r>
              <a:rPr lang="it-IT" b="1" dirty="0">
                <a:solidFill>
                  <a:schemeClr val="tx1"/>
                </a:solidFill>
                <a:latin typeface="Corbel" panose="020B0503020204020204" pitchFamily="34" charset="0"/>
              </a:rPr>
              <a:t>Libro</a:t>
            </a:r>
            <a:r>
              <a:rPr lang="it-IT" dirty="0">
                <a:solidFill>
                  <a:schemeClr val="tx1"/>
                </a:solidFill>
                <a:latin typeface="Corbel" panose="020B0503020204020204" pitchFamily="34" charset="0"/>
              </a:rPr>
              <a:t> e individuando progressivamente le altre entità ad esso collegate.</a:t>
            </a:r>
            <a:endParaRPr lang="it-IT" sz="1800" dirty="0">
              <a:solidFill>
                <a:schemeClr val="tx1"/>
              </a:solidFill>
              <a:latin typeface="Corbel" panose="020B0503020204020204" pitchFamily="34" charset="0"/>
              <a:cs typeface="Corbel"/>
            </a:endParaRPr>
          </a:p>
          <a:p>
            <a:pPr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76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7A62E35F-B9F7-73B3-B906-DB1AECAFF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2" y="0"/>
            <a:ext cx="6746694" cy="6909796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4DBEECF-4BB4-4E91-F156-BD8930BB54F3}"/>
              </a:ext>
            </a:extLst>
          </p:cNvPr>
          <p:cNvSpPr txBox="1">
            <a:spLocks/>
          </p:cNvSpPr>
          <p:nvPr/>
        </p:nvSpPr>
        <p:spPr>
          <a:xfrm>
            <a:off x="6858106" y="3269287"/>
            <a:ext cx="3340450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it-IT" dirty="0"/>
              <a:t>Progettazione </a:t>
            </a:r>
            <a:br>
              <a:rPr lang="it-IT" dirty="0"/>
            </a:br>
            <a:r>
              <a:rPr lang="it-IT" dirty="0"/>
              <a:t>Concettuale</a:t>
            </a:r>
          </a:p>
        </p:txBody>
      </p:sp>
    </p:spTree>
    <p:extLst>
      <p:ext uri="{BB962C8B-B14F-4D97-AF65-F5344CB8AC3E}">
        <p14:creationId xmlns:p14="http://schemas.microsoft.com/office/powerpoint/2010/main" val="2078482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olo 1">
            <a:extLst>
              <a:ext uri="{FF2B5EF4-FFF2-40B4-BE49-F238E27FC236}">
                <a16:creationId xmlns:a16="http://schemas.microsoft.com/office/drawing/2014/main" id="{20B7876C-502B-56B2-2F75-409875AFE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8669" y="0"/>
            <a:ext cx="8596668" cy="1320800"/>
          </a:xfrm>
        </p:spPr>
        <p:txBody>
          <a:bodyPr/>
          <a:lstStyle/>
          <a:p>
            <a:r>
              <a:rPr lang="it-IT" dirty="0"/>
              <a:t>Dizionario dei Dati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B4491F4-EBA2-69AF-503C-62EDB373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60" y="535399"/>
            <a:ext cx="3759393" cy="513106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7306A854-51E8-60C4-CC29-60AB2BCEE8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20"/>
          <a:stretch/>
        </p:blipFill>
        <p:spPr>
          <a:xfrm>
            <a:off x="502859" y="5582703"/>
            <a:ext cx="3759393" cy="1074618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C0D84083-D068-414A-60B5-062E566B5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954" y="584261"/>
            <a:ext cx="3511730" cy="4045158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180E5205-0465-99E4-58F2-9EA37EE91E2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827"/>
          <a:stretch/>
        </p:blipFill>
        <p:spPr>
          <a:xfrm>
            <a:off x="4959954" y="4629419"/>
            <a:ext cx="3511730" cy="211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08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044ECD-73CB-54F4-9A42-2E893A933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Progettazione logica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818595C-B1D0-6AC1-B225-737DAF5FA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34653"/>
            <a:ext cx="8596668" cy="388077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pc="10" dirty="0">
                <a:solidFill>
                  <a:schemeClr val="tx1"/>
                </a:solidFill>
                <a:latin typeface="Corbel"/>
                <a:cs typeface="Corbel"/>
              </a:rPr>
              <a:t>Essa si</a:t>
            </a:r>
            <a:r>
              <a:rPr lang="it-IT" spc="-40" dirty="0">
                <a:solidFill>
                  <a:schemeClr val="tx1"/>
                </a:solidFill>
                <a:latin typeface="Corbel"/>
                <a:cs typeface="Corbel"/>
              </a:rPr>
              <a:t> </a:t>
            </a:r>
            <a:r>
              <a:rPr lang="it-IT" spc="5" dirty="0">
                <a:solidFill>
                  <a:schemeClr val="tx1"/>
                </a:solidFill>
                <a:latin typeface="Corbel"/>
                <a:cs typeface="Corbel"/>
              </a:rPr>
              <a:t>suddivide</a:t>
            </a:r>
            <a:r>
              <a:rPr lang="it-IT" spc="-60" dirty="0">
                <a:solidFill>
                  <a:schemeClr val="tx1"/>
                </a:solidFill>
                <a:latin typeface="Corbel"/>
                <a:cs typeface="Corbel"/>
              </a:rPr>
              <a:t> </a:t>
            </a:r>
            <a:r>
              <a:rPr lang="it-IT" spc="15" dirty="0">
                <a:solidFill>
                  <a:schemeClr val="tx1"/>
                </a:solidFill>
                <a:latin typeface="Corbel"/>
                <a:cs typeface="Corbel"/>
              </a:rPr>
              <a:t>in</a:t>
            </a:r>
            <a:r>
              <a:rPr lang="it-IT" spc="-45" dirty="0">
                <a:solidFill>
                  <a:schemeClr val="tx1"/>
                </a:solidFill>
                <a:latin typeface="Corbel"/>
                <a:cs typeface="Corbel"/>
              </a:rPr>
              <a:t> </a:t>
            </a:r>
            <a:r>
              <a:rPr lang="it-IT" spc="-10" dirty="0">
                <a:solidFill>
                  <a:schemeClr val="tx1"/>
                </a:solidFill>
                <a:latin typeface="Corbel"/>
                <a:cs typeface="Corbel"/>
              </a:rPr>
              <a:t>due</a:t>
            </a:r>
            <a:r>
              <a:rPr lang="it-IT" spc="10" dirty="0">
                <a:solidFill>
                  <a:schemeClr val="tx1"/>
                </a:solidFill>
                <a:latin typeface="Corbel"/>
                <a:cs typeface="Corbel"/>
              </a:rPr>
              <a:t> </a:t>
            </a:r>
            <a:r>
              <a:rPr lang="it-IT" spc="15" dirty="0">
                <a:solidFill>
                  <a:schemeClr val="tx1"/>
                </a:solidFill>
                <a:latin typeface="Corbel"/>
                <a:cs typeface="Corbel"/>
              </a:rPr>
              <a:t>fasi: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it-IT" sz="18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Ristrutturazione dello </a:t>
            </a: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schema </a:t>
            </a:r>
            <a:r>
              <a:rPr lang="it-IT" sz="18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Entità-Relazione: </a:t>
            </a:r>
            <a:r>
              <a:rPr lang="it-IT" sz="1800" dirty="0">
                <a:solidFill>
                  <a:schemeClr val="tx1"/>
                </a:solidFill>
                <a:latin typeface="Corbel" panose="020B0503020204020204" pitchFamily="34" charset="0"/>
              </a:rPr>
              <a:t>lo schema viene modificato per facilitarne la traduzione in un modello logico, come quello relazionale, e per ottimizzare le prestazioni future del database.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it-IT" sz="18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Traduzione verso</a:t>
            </a:r>
            <a:r>
              <a:rPr lang="it-IT" sz="1800" spc="3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il</a:t>
            </a:r>
            <a:r>
              <a:rPr lang="it-IT" sz="1800" spc="-3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modello</a:t>
            </a:r>
            <a:r>
              <a:rPr lang="it-IT" sz="1800" spc="-1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logico:</a:t>
            </a:r>
            <a:r>
              <a:rPr lang="it-IT" sz="1800" spc="-16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800" dirty="0">
                <a:solidFill>
                  <a:schemeClr val="tx1"/>
                </a:solidFill>
                <a:latin typeface="Corbel" panose="020B0503020204020204" pitchFamily="34" charset="0"/>
              </a:rPr>
              <a:t>dallo schema E-R ristrutturato si costruisce uno schema logico equivalente, ad esempio uno schema relazionale.</a:t>
            </a:r>
          </a:p>
        </p:txBody>
      </p:sp>
    </p:spTree>
    <p:extLst>
      <p:ext uri="{BB962C8B-B14F-4D97-AF65-F5344CB8AC3E}">
        <p14:creationId xmlns:p14="http://schemas.microsoft.com/office/powerpoint/2010/main" val="233102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F490BD-7A14-73C8-BEDD-5989259F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2" y="835382"/>
            <a:ext cx="8596668" cy="119513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1600" spc="-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Sostituzione della</a:t>
            </a:r>
            <a:r>
              <a:rPr lang="it-IT" sz="1600" spc="6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generalizzazione</a:t>
            </a:r>
            <a:r>
              <a:rPr lang="it-IT" sz="1600" spc="4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con</a:t>
            </a:r>
            <a:r>
              <a:rPr lang="it-IT" sz="1600" spc="-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associazioni: </a:t>
            </a:r>
            <a:r>
              <a:rPr lang="it-IT" sz="16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la </a:t>
            </a:r>
            <a:r>
              <a:rPr lang="it-IT" sz="16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dirty="0">
                <a:solidFill>
                  <a:schemeClr val="tx1"/>
                </a:solidFill>
                <a:latin typeface="Corbel" panose="020B0503020204020204" pitchFamily="34" charset="0"/>
              </a:rPr>
              <a:t>generalizzazione viene sostituita da relazioni tra l’entità genitore e le entità figlie, con cardinalità 1:1. </a:t>
            </a:r>
            <a:r>
              <a:rPr lang="it-IT" sz="1600" spc="-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. </a:t>
            </a:r>
            <a:r>
              <a:rPr lang="it-IT" sz="1600" spc="-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br>
              <a:rPr lang="it-IT" sz="1600" spc="-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</a:br>
            <a:r>
              <a:rPr lang="it-IT" sz="1600" spc="-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Non</a:t>
            </a:r>
            <a:r>
              <a:rPr lang="it-IT" sz="1600" spc="-3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ci</a:t>
            </a:r>
            <a:r>
              <a:rPr lang="it-IT" sz="16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sono</a:t>
            </a:r>
            <a:r>
              <a:rPr lang="it-IT" sz="1600" spc="-3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trasferimenti</a:t>
            </a:r>
            <a:r>
              <a:rPr lang="it-IT" sz="16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di</a:t>
            </a:r>
            <a:r>
              <a:rPr lang="it-IT" sz="16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attribuiti</a:t>
            </a:r>
            <a:r>
              <a:rPr lang="it-IT" sz="1600" spc="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ma</a:t>
            </a:r>
            <a:r>
              <a:rPr lang="it-IT" sz="1600" spc="-9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le</a:t>
            </a:r>
            <a:r>
              <a:rPr lang="it-IT" sz="1600" spc="5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entità</a:t>
            </a:r>
            <a:r>
              <a:rPr lang="it-IT" sz="1600" spc="6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figlie</a:t>
            </a:r>
            <a:r>
              <a:rPr lang="it-IT" sz="1600" spc="12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sono </a:t>
            </a:r>
            <a:r>
              <a:rPr lang="it-IT" sz="1600" spc="-46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identificate</a:t>
            </a:r>
            <a:r>
              <a:rPr lang="it-IT" sz="1600" spc="12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esternamente</a:t>
            </a:r>
            <a:r>
              <a:rPr lang="it-IT" sz="1600" spc="-100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1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dell'entità</a:t>
            </a:r>
            <a:r>
              <a:rPr lang="it-IT" sz="1600" spc="13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 </a:t>
            </a:r>
            <a:r>
              <a:rPr lang="it-IT" sz="1600" spc="-5" dirty="0">
                <a:solidFill>
                  <a:schemeClr val="tx1"/>
                </a:solidFill>
                <a:latin typeface="Corbel" panose="020B0503020204020204" pitchFamily="34" charset="0"/>
                <a:cs typeface="Corbel"/>
              </a:rPr>
              <a:t>genitore.</a:t>
            </a:r>
            <a:endParaRPr lang="it-IT" sz="1600" dirty="0">
              <a:solidFill>
                <a:schemeClr val="tx1"/>
              </a:solidFill>
              <a:latin typeface="Corbel" panose="020B0503020204020204" pitchFamily="34" charset="0"/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CCF8D806-861D-8EEF-9238-313D175262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42" y="146613"/>
            <a:ext cx="10116273" cy="5333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01400"/>
              </a:lnSpc>
              <a:spcBef>
                <a:spcPts val="60"/>
              </a:spcBef>
            </a:pPr>
            <a:r>
              <a:rPr spc="-5" dirty="0"/>
              <a:t>Ristrutturazione</a:t>
            </a:r>
            <a:r>
              <a:rPr spc="365" dirty="0"/>
              <a:t> </a:t>
            </a:r>
            <a:r>
              <a:rPr spc="-15" dirty="0"/>
              <a:t>dello</a:t>
            </a:r>
            <a:r>
              <a:rPr spc="150" dirty="0"/>
              <a:t> </a:t>
            </a:r>
            <a:r>
              <a:rPr spc="-5" dirty="0"/>
              <a:t>schema </a:t>
            </a:r>
            <a:r>
              <a:rPr spc="-775" dirty="0"/>
              <a:t> </a:t>
            </a:r>
            <a:r>
              <a:rPr spc="-10" dirty="0"/>
              <a:t>Entità-Relazione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CDDCC26-EADB-449F-B74B-7C56A7230E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3"/>
          <a:stretch/>
        </p:blipFill>
        <p:spPr bwMode="auto">
          <a:xfrm>
            <a:off x="1800477" y="1872120"/>
            <a:ext cx="6417945" cy="47415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2006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C5BEBD45-9942-5BE6-9E08-1DE397D92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69" y="149024"/>
            <a:ext cx="6287301" cy="6708976"/>
          </a:xfrm>
          <a:prstGeom prst="rect">
            <a:avLst/>
          </a:prstGeom>
        </p:spPr>
      </p:pic>
      <p:sp>
        <p:nvSpPr>
          <p:cNvPr id="6" name="Titolo 1">
            <a:extLst>
              <a:ext uri="{FF2B5EF4-FFF2-40B4-BE49-F238E27FC236}">
                <a16:creationId xmlns:a16="http://schemas.microsoft.com/office/drawing/2014/main" id="{BAE93686-E8F0-9EAC-A64A-5F76D3288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167743"/>
            <a:ext cx="7128559" cy="1215571"/>
          </a:xfrm>
        </p:spPr>
        <p:txBody>
          <a:bodyPr/>
          <a:lstStyle/>
          <a:p>
            <a:r>
              <a:rPr lang="it-IT" dirty="0"/>
              <a:t>Schema E-R dopo </a:t>
            </a:r>
            <a:br>
              <a:rPr lang="it-IT" dirty="0"/>
            </a:br>
            <a:r>
              <a:rPr lang="it-IT" dirty="0"/>
              <a:t>la ristrutturazione</a:t>
            </a:r>
          </a:p>
        </p:txBody>
      </p:sp>
    </p:spTree>
    <p:extLst>
      <p:ext uri="{BB962C8B-B14F-4D97-AF65-F5344CB8AC3E}">
        <p14:creationId xmlns:p14="http://schemas.microsoft.com/office/powerpoint/2010/main" val="3577029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8689C7-4DD7-229F-9C4E-F955436F2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433" y="-51457"/>
            <a:ext cx="8596668" cy="1320800"/>
          </a:xfrm>
        </p:spPr>
        <p:txBody>
          <a:bodyPr/>
          <a:lstStyle/>
          <a:p>
            <a:r>
              <a:rPr lang="it-IT" spc="-20" dirty="0"/>
              <a:t>Traduzione</a:t>
            </a:r>
            <a:r>
              <a:rPr lang="it-IT" spc="130" dirty="0"/>
              <a:t> </a:t>
            </a:r>
            <a:r>
              <a:rPr lang="it-IT" spc="-10" dirty="0"/>
              <a:t>verso</a:t>
            </a:r>
            <a:r>
              <a:rPr lang="it-IT" spc="145" dirty="0"/>
              <a:t> </a:t>
            </a:r>
            <a:r>
              <a:rPr lang="it-IT" spc="-5" dirty="0"/>
              <a:t>il</a:t>
            </a:r>
            <a:r>
              <a:rPr lang="it-IT" spc="-10" dirty="0"/>
              <a:t> </a:t>
            </a:r>
            <a:r>
              <a:rPr lang="it-IT" spc="-5" dirty="0"/>
              <a:t>modello</a:t>
            </a:r>
            <a:r>
              <a:rPr lang="it-IT" spc="215" dirty="0"/>
              <a:t> </a:t>
            </a:r>
            <a:r>
              <a:rPr lang="it-IT" spc="-5" dirty="0"/>
              <a:t>logico</a:t>
            </a:r>
            <a:endParaRPr lang="it-IT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C7953A8-974F-F4F2-1522-ED50BC922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19" y="630338"/>
            <a:ext cx="3753043" cy="515011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EB68517-6E09-3B12-2C70-4F5BE13AD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940" y="630338"/>
            <a:ext cx="3797495" cy="5315223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A82CF63F-00E5-0654-4013-9528E26BA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940" y="5945561"/>
            <a:ext cx="3721291" cy="40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10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6E5C8-000B-CB82-A041-5DA8942C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-5" dirty="0"/>
              <a:t>Esempio</a:t>
            </a:r>
            <a:r>
              <a:rPr lang="it-IT" spc="114" dirty="0"/>
              <a:t> </a:t>
            </a:r>
            <a:r>
              <a:rPr lang="it-IT" spc="-10" dirty="0"/>
              <a:t>di</a:t>
            </a:r>
            <a:r>
              <a:rPr lang="it-IT" spc="50" dirty="0"/>
              <a:t> </a:t>
            </a:r>
            <a:r>
              <a:rPr lang="it-IT" spc="10" dirty="0"/>
              <a:t>normalizzazione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20193B6-6218-FE17-4F47-801066D887AE}"/>
              </a:ext>
            </a:extLst>
          </p:cNvPr>
          <p:cNvSpPr txBox="1"/>
          <p:nvPr/>
        </p:nvSpPr>
        <p:spPr>
          <a:xfrm>
            <a:off x="677334" y="1359018"/>
            <a:ext cx="8481133" cy="1482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it-IT" sz="1800" spc="5" dirty="0">
                <a:latin typeface="Corbel"/>
                <a:cs typeface="Corbel"/>
              </a:rPr>
              <a:t>Siamo</a:t>
            </a:r>
            <a:r>
              <a:rPr lang="it-IT" sz="1800" spc="-50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partiti</a:t>
            </a:r>
            <a:r>
              <a:rPr lang="it-IT" sz="1800" spc="-35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da</a:t>
            </a:r>
            <a:r>
              <a:rPr lang="it-IT" sz="1800" spc="-50" dirty="0">
                <a:latin typeface="Corbel"/>
                <a:cs typeface="Corbel"/>
              </a:rPr>
              <a:t> </a:t>
            </a:r>
            <a:r>
              <a:rPr lang="it-IT" sz="1800" spc="-20" dirty="0">
                <a:latin typeface="Corbel"/>
                <a:cs typeface="Corbel"/>
              </a:rPr>
              <a:t>un</a:t>
            </a:r>
            <a:r>
              <a:rPr lang="it-IT" sz="1800" spc="40" dirty="0">
                <a:latin typeface="Corbel"/>
                <a:cs typeface="Corbel"/>
              </a:rPr>
              <a:t> </a:t>
            </a:r>
            <a:r>
              <a:rPr lang="it-IT" sz="1800" spc="5" dirty="0">
                <a:latin typeface="Corbel"/>
                <a:cs typeface="Corbel"/>
              </a:rPr>
              <a:t>concetto</a:t>
            </a:r>
            <a:r>
              <a:rPr lang="it-IT" sz="1800" spc="-5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fondamentale</a:t>
            </a:r>
            <a:r>
              <a:rPr lang="it-IT" sz="1800" spc="-13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della</a:t>
            </a:r>
            <a:r>
              <a:rPr lang="it-IT" sz="1800" spc="-5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biblioteca</a:t>
            </a:r>
            <a:r>
              <a:rPr lang="it-IT" sz="1800" spc="-125" dirty="0">
                <a:latin typeface="Corbel"/>
                <a:cs typeface="Corbel"/>
              </a:rPr>
              <a:t> </a:t>
            </a:r>
            <a:r>
              <a:rPr lang="it-IT" sz="1800" spc="-5" dirty="0">
                <a:latin typeface="Corbel"/>
                <a:cs typeface="Corbel"/>
              </a:rPr>
              <a:t>ovvero</a:t>
            </a:r>
            <a:r>
              <a:rPr lang="it-IT" sz="1800" spc="-45" dirty="0">
                <a:latin typeface="Corbel"/>
                <a:cs typeface="Corbel"/>
              </a:rPr>
              <a:t> </a:t>
            </a:r>
            <a:r>
              <a:rPr lang="it-IT" sz="1800" spc="15" dirty="0">
                <a:latin typeface="Corbel"/>
                <a:cs typeface="Corbel"/>
              </a:rPr>
              <a:t>il</a:t>
            </a:r>
            <a:r>
              <a:rPr lang="it-IT" sz="1800" spc="-3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libro</a:t>
            </a:r>
            <a:endParaRPr lang="it-IT" sz="1800" dirty="0">
              <a:latin typeface="Corbel"/>
              <a:cs typeface="Corbel"/>
            </a:endParaRPr>
          </a:p>
          <a:p>
            <a:pPr marL="12700" marR="5080">
              <a:lnSpc>
                <a:spcPct val="100800"/>
              </a:lnSpc>
            </a:pPr>
            <a:r>
              <a:rPr lang="it-IT" sz="1800" spc="-35" dirty="0">
                <a:latin typeface="Corbel"/>
                <a:cs typeface="Corbel"/>
              </a:rPr>
              <a:t>u</a:t>
            </a:r>
            <a:r>
              <a:rPr lang="it-IT" sz="1800" spc="20" dirty="0">
                <a:latin typeface="Corbel"/>
                <a:cs typeface="Corbel"/>
              </a:rPr>
              <a:t>n'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25" dirty="0">
                <a:latin typeface="Corbel"/>
                <a:cs typeface="Corbel"/>
              </a:rPr>
              <a:t>n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30" dirty="0">
                <a:latin typeface="Corbel"/>
                <a:cs typeface="Corbel"/>
              </a:rPr>
              <a:t>i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dirty="0">
                <a:latin typeface="Corbel"/>
                <a:cs typeface="Corbel"/>
              </a:rPr>
              <a:t>à </a:t>
            </a:r>
            <a:r>
              <a:rPr lang="it-IT" sz="1800" spc="-20" dirty="0">
                <a:latin typeface="Corbel"/>
                <a:cs typeface="Corbel"/>
              </a:rPr>
              <a:t> </a:t>
            </a:r>
            <a:r>
              <a:rPr lang="it-IT" sz="1800" spc="30" dirty="0">
                <a:latin typeface="Corbel"/>
                <a:cs typeface="Corbel"/>
              </a:rPr>
              <a:t>c</a:t>
            </a:r>
            <a:r>
              <a:rPr lang="it-IT" sz="1800" spc="10" dirty="0">
                <a:latin typeface="Corbel"/>
                <a:cs typeface="Corbel"/>
              </a:rPr>
              <a:t>h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-6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h</a:t>
            </a:r>
            <a:r>
              <a:rPr lang="it-IT" sz="1800" dirty="0">
                <a:latin typeface="Corbel"/>
                <a:cs typeface="Corbel"/>
              </a:rPr>
              <a:t>a</a:t>
            </a:r>
            <a:r>
              <a:rPr lang="it-IT" sz="1800" spc="25" dirty="0">
                <a:latin typeface="Corbel"/>
                <a:cs typeface="Corbel"/>
              </a:rPr>
              <a:t> </a:t>
            </a:r>
            <a:r>
              <a:rPr lang="it-IT" sz="1800" spc="30" dirty="0">
                <a:latin typeface="Corbel"/>
                <a:cs typeface="Corbel"/>
              </a:rPr>
              <a:t>c</a:t>
            </a:r>
            <a:r>
              <a:rPr lang="it-IT" sz="1800" spc="10" dirty="0">
                <a:latin typeface="Corbel"/>
                <a:cs typeface="Corbel"/>
              </a:rPr>
              <a:t>o</a:t>
            </a:r>
            <a:r>
              <a:rPr lang="it-IT" sz="1800" dirty="0">
                <a:latin typeface="Corbel"/>
                <a:cs typeface="Corbel"/>
              </a:rPr>
              <a:t>me</a:t>
            </a:r>
            <a:r>
              <a:rPr lang="it-IT" sz="1800" spc="-6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a</a:t>
            </a:r>
            <a:r>
              <a:rPr lang="it-IT" sz="1800" spc="-30" dirty="0">
                <a:latin typeface="Corbel"/>
                <a:cs typeface="Corbel"/>
              </a:rPr>
              <a:t>tt</a:t>
            </a:r>
            <a:r>
              <a:rPr lang="it-IT" sz="1800" dirty="0">
                <a:latin typeface="Corbel"/>
                <a:cs typeface="Corbel"/>
              </a:rPr>
              <a:t>r</a:t>
            </a:r>
            <a:r>
              <a:rPr lang="it-IT" sz="1800" spc="25" dirty="0">
                <a:latin typeface="Corbel"/>
                <a:cs typeface="Corbel"/>
              </a:rPr>
              <a:t>i</a:t>
            </a:r>
            <a:r>
              <a:rPr lang="it-IT" sz="1800" spc="5" dirty="0">
                <a:latin typeface="Corbel"/>
                <a:cs typeface="Corbel"/>
              </a:rPr>
              <a:t>b</a:t>
            </a:r>
            <a:r>
              <a:rPr lang="it-IT" sz="1800" spc="-35" dirty="0">
                <a:latin typeface="Corbel"/>
                <a:cs typeface="Corbel"/>
              </a:rPr>
              <a:t>u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30" dirty="0">
                <a:latin typeface="Corbel"/>
                <a:cs typeface="Corbel"/>
              </a:rPr>
              <a:t>i</a:t>
            </a:r>
            <a:r>
              <a:rPr lang="it-IT" sz="1800" dirty="0">
                <a:latin typeface="Corbel"/>
                <a:cs typeface="Corbel"/>
              </a:rPr>
              <a:t>:</a:t>
            </a:r>
            <a:r>
              <a:rPr lang="it-IT" sz="1800" spc="-15" dirty="0">
                <a:latin typeface="Corbel"/>
                <a:cs typeface="Corbel"/>
              </a:rPr>
              <a:t> </a:t>
            </a:r>
            <a:r>
              <a:rPr lang="it-IT" sz="1800" spc="5" dirty="0">
                <a:latin typeface="Corbel"/>
                <a:cs typeface="Corbel"/>
              </a:rPr>
              <a:t>I</a:t>
            </a:r>
            <a:r>
              <a:rPr lang="it-IT" sz="1800" spc="-20" dirty="0">
                <a:latin typeface="Corbel"/>
                <a:cs typeface="Corbel"/>
              </a:rPr>
              <a:t>SB</a:t>
            </a:r>
            <a:r>
              <a:rPr lang="it-IT" sz="1800" spc="15" dirty="0">
                <a:latin typeface="Corbel"/>
                <a:cs typeface="Corbel"/>
              </a:rPr>
              <a:t>N</a:t>
            </a:r>
            <a:r>
              <a:rPr lang="it-IT" sz="1800" dirty="0">
                <a:latin typeface="Corbel"/>
                <a:cs typeface="Corbel"/>
              </a:rPr>
              <a:t>,</a:t>
            </a:r>
            <a:r>
              <a:rPr lang="it-IT" sz="1800" spc="-50" dirty="0">
                <a:latin typeface="Corbel"/>
                <a:cs typeface="Corbel"/>
              </a:rPr>
              <a:t> </a:t>
            </a:r>
            <a:r>
              <a:rPr lang="it-IT" sz="1800" spc="-25" dirty="0" err="1">
                <a:latin typeface="Corbel"/>
                <a:cs typeface="Corbel"/>
              </a:rPr>
              <a:t>T</a:t>
            </a:r>
            <a:r>
              <a:rPr lang="it-IT" sz="1800" spc="30" dirty="0" err="1">
                <a:latin typeface="Corbel"/>
                <a:cs typeface="Corbel"/>
              </a:rPr>
              <a:t>i</a:t>
            </a:r>
            <a:r>
              <a:rPr lang="it-IT" sz="1800" spc="-25" dirty="0" err="1">
                <a:latin typeface="Corbel"/>
                <a:cs typeface="Corbel"/>
              </a:rPr>
              <a:t>t</a:t>
            </a:r>
            <a:r>
              <a:rPr lang="it-IT" sz="1800" spc="10" dirty="0" err="1">
                <a:latin typeface="Corbel"/>
                <a:cs typeface="Corbel"/>
              </a:rPr>
              <a:t>o</a:t>
            </a:r>
            <a:r>
              <a:rPr lang="it-IT" sz="1800" spc="30" dirty="0" err="1">
                <a:latin typeface="Corbel"/>
                <a:cs typeface="Corbel"/>
              </a:rPr>
              <a:t>l</a:t>
            </a:r>
            <a:r>
              <a:rPr lang="it-IT" sz="1800" spc="10" dirty="0" err="1">
                <a:latin typeface="Corbel"/>
                <a:cs typeface="Corbel"/>
              </a:rPr>
              <a:t>o</a:t>
            </a:r>
            <a:r>
              <a:rPr lang="it-IT" sz="1800" spc="35" dirty="0" err="1">
                <a:latin typeface="Corbel"/>
                <a:cs typeface="Corbel"/>
              </a:rPr>
              <a:t>L</a:t>
            </a:r>
            <a:r>
              <a:rPr lang="it-IT" sz="1800" spc="30" dirty="0" err="1">
                <a:latin typeface="Corbel"/>
                <a:cs typeface="Corbel"/>
              </a:rPr>
              <a:t>i</a:t>
            </a:r>
            <a:r>
              <a:rPr lang="it-IT" sz="1800" spc="5" dirty="0" err="1">
                <a:latin typeface="Corbel"/>
                <a:cs typeface="Corbel"/>
              </a:rPr>
              <a:t>b</a:t>
            </a:r>
            <a:r>
              <a:rPr lang="it-IT" sz="1800" dirty="0" err="1">
                <a:latin typeface="Corbel"/>
                <a:cs typeface="Corbel"/>
              </a:rPr>
              <a:t>r</a:t>
            </a:r>
            <a:r>
              <a:rPr lang="it-IT" sz="1800" spc="15" dirty="0" err="1">
                <a:latin typeface="Corbel"/>
                <a:cs typeface="Corbel"/>
              </a:rPr>
              <a:t>o</a:t>
            </a:r>
            <a:r>
              <a:rPr lang="it-IT" sz="1800" dirty="0">
                <a:latin typeface="Corbel"/>
                <a:cs typeface="Corbel"/>
              </a:rPr>
              <a:t>,</a:t>
            </a:r>
            <a:r>
              <a:rPr lang="it-IT" sz="1800" spc="-165" dirty="0">
                <a:latin typeface="Corbel"/>
                <a:cs typeface="Corbel"/>
              </a:rPr>
              <a:t> </a:t>
            </a:r>
            <a:r>
              <a:rPr lang="it-IT" sz="1800" spc="-15" dirty="0" err="1">
                <a:latin typeface="Corbel"/>
                <a:cs typeface="Corbel"/>
              </a:rPr>
              <a:t>C</a:t>
            </a:r>
            <a:r>
              <a:rPr lang="it-IT" sz="1800" spc="10" dirty="0" err="1">
                <a:latin typeface="Corbel"/>
                <a:cs typeface="Corbel"/>
              </a:rPr>
              <a:t>a</a:t>
            </a:r>
            <a:r>
              <a:rPr lang="it-IT" sz="1800" spc="15" dirty="0" err="1">
                <a:latin typeface="Corbel"/>
                <a:cs typeface="Corbel"/>
              </a:rPr>
              <a:t>s</a:t>
            </a:r>
            <a:r>
              <a:rPr lang="it-IT" sz="1800" spc="10" dirty="0" err="1">
                <a:latin typeface="Corbel"/>
                <a:cs typeface="Corbel"/>
              </a:rPr>
              <a:t>a</a:t>
            </a:r>
            <a:r>
              <a:rPr lang="it-IT" sz="1800" spc="-20" dirty="0" err="1">
                <a:latin typeface="Corbel"/>
                <a:cs typeface="Corbel"/>
              </a:rPr>
              <a:t>E</a:t>
            </a:r>
            <a:r>
              <a:rPr lang="it-IT" sz="1800" spc="5" dirty="0" err="1">
                <a:latin typeface="Corbel"/>
                <a:cs typeface="Corbel"/>
              </a:rPr>
              <a:t>d</a:t>
            </a:r>
            <a:r>
              <a:rPr lang="it-IT" sz="1800" spc="30" dirty="0" err="1">
                <a:latin typeface="Corbel"/>
                <a:cs typeface="Corbel"/>
              </a:rPr>
              <a:t>i</a:t>
            </a:r>
            <a:r>
              <a:rPr lang="it-IT" sz="1800" spc="-30" dirty="0" err="1">
                <a:latin typeface="Corbel"/>
                <a:cs typeface="Corbel"/>
              </a:rPr>
              <a:t>t</a:t>
            </a:r>
            <a:r>
              <a:rPr lang="it-IT" sz="1800" dirty="0" err="1">
                <a:latin typeface="Corbel"/>
                <a:cs typeface="Corbel"/>
              </a:rPr>
              <a:t>r</a:t>
            </a:r>
            <a:r>
              <a:rPr lang="it-IT" sz="1800" spc="25" dirty="0" err="1">
                <a:latin typeface="Corbel"/>
                <a:cs typeface="Corbel"/>
              </a:rPr>
              <a:t>i</a:t>
            </a:r>
            <a:r>
              <a:rPr lang="it-IT" sz="1800" spc="30" dirty="0" err="1">
                <a:latin typeface="Corbel"/>
                <a:cs typeface="Corbel"/>
              </a:rPr>
              <a:t>c</a:t>
            </a:r>
            <a:r>
              <a:rPr lang="it-IT" sz="1800" dirty="0" err="1">
                <a:latin typeface="Corbel"/>
                <a:cs typeface="Corbel"/>
              </a:rPr>
              <a:t>e</a:t>
            </a:r>
            <a:r>
              <a:rPr lang="it-IT" sz="1800" spc="-114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-135" dirty="0">
                <a:latin typeface="Corbel"/>
                <a:cs typeface="Corbel"/>
              </a:rPr>
              <a:t> </a:t>
            </a:r>
            <a:r>
              <a:rPr lang="it-IT" sz="1800" spc="-20" dirty="0" err="1">
                <a:latin typeface="Corbel"/>
                <a:cs typeface="Corbel"/>
              </a:rPr>
              <a:t>S</a:t>
            </a:r>
            <a:r>
              <a:rPr lang="it-IT" sz="1800" dirty="0" err="1">
                <a:latin typeface="Corbel"/>
                <a:cs typeface="Corbel"/>
              </a:rPr>
              <a:t>e</a:t>
            </a:r>
            <a:r>
              <a:rPr lang="it-IT" sz="1800" spc="15" dirty="0" err="1">
                <a:latin typeface="Corbel"/>
                <a:cs typeface="Corbel"/>
              </a:rPr>
              <a:t>d</a:t>
            </a:r>
            <a:r>
              <a:rPr lang="it-IT" sz="1800" dirty="0" err="1">
                <a:latin typeface="Corbel"/>
                <a:cs typeface="Corbel"/>
              </a:rPr>
              <a:t>eC</a:t>
            </a:r>
            <a:r>
              <a:rPr lang="it-IT" sz="1800" spc="10" dirty="0" err="1">
                <a:latin typeface="Corbel"/>
                <a:cs typeface="Corbel"/>
              </a:rPr>
              <a:t>a</a:t>
            </a:r>
            <a:r>
              <a:rPr lang="it-IT" sz="1800" spc="20" dirty="0" err="1">
                <a:latin typeface="Corbel"/>
                <a:cs typeface="Corbel"/>
              </a:rPr>
              <a:t>s</a:t>
            </a:r>
            <a:r>
              <a:rPr lang="it-IT" sz="1800" spc="15" dirty="0" err="1">
                <a:latin typeface="Corbel"/>
                <a:cs typeface="Corbel"/>
              </a:rPr>
              <a:t>a</a:t>
            </a:r>
            <a:r>
              <a:rPr lang="it-IT" sz="1800" spc="-20" dirty="0" err="1">
                <a:latin typeface="Corbel"/>
                <a:cs typeface="Corbel"/>
              </a:rPr>
              <a:t>E</a:t>
            </a:r>
            <a:r>
              <a:rPr lang="it-IT" sz="1800" spc="5" dirty="0" err="1">
                <a:latin typeface="Corbel"/>
                <a:cs typeface="Corbel"/>
              </a:rPr>
              <a:t>d</a:t>
            </a:r>
            <a:r>
              <a:rPr lang="it-IT" sz="1800" spc="30" dirty="0" err="1">
                <a:latin typeface="Corbel"/>
                <a:cs typeface="Corbel"/>
              </a:rPr>
              <a:t>i</a:t>
            </a:r>
            <a:r>
              <a:rPr lang="it-IT" sz="1800" spc="-25" dirty="0" err="1">
                <a:latin typeface="Corbel"/>
                <a:cs typeface="Corbel"/>
              </a:rPr>
              <a:t>t</a:t>
            </a:r>
            <a:r>
              <a:rPr lang="it-IT" sz="1800" dirty="0" err="1">
                <a:latin typeface="Corbel"/>
                <a:cs typeface="Corbel"/>
              </a:rPr>
              <a:t>r</a:t>
            </a:r>
            <a:r>
              <a:rPr lang="it-IT" sz="1800" spc="30" dirty="0" err="1">
                <a:latin typeface="Corbel"/>
                <a:cs typeface="Corbel"/>
              </a:rPr>
              <a:t>i</a:t>
            </a:r>
            <a:r>
              <a:rPr lang="it-IT" sz="1800" spc="35" dirty="0" err="1">
                <a:latin typeface="Corbel"/>
                <a:cs typeface="Corbel"/>
              </a:rPr>
              <a:t>c</a:t>
            </a:r>
            <a:r>
              <a:rPr lang="it-IT" sz="1800" spc="-10" dirty="0" err="1">
                <a:latin typeface="Corbel"/>
                <a:cs typeface="Corbel"/>
              </a:rPr>
              <a:t>e</a:t>
            </a:r>
            <a:r>
              <a:rPr lang="it-IT" sz="1800" dirty="0">
                <a:latin typeface="Corbel"/>
                <a:cs typeface="Corbel"/>
              </a:rPr>
              <a:t>.  </a:t>
            </a:r>
            <a:br>
              <a:rPr lang="it-IT" sz="1800" dirty="0">
                <a:latin typeface="Corbel"/>
                <a:cs typeface="Corbel"/>
              </a:rPr>
            </a:br>
            <a:r>
              <a:rPr lang="it-IT" sz="1800" spc="-20" dirty="0">
                <a:latin typeface="Corbel"/>
                <a:cs typeface="Corbel"/>
              </a:rPr>
              <a:t>Per</a:t>
            </a:r>
            <a:r>
              <a:rPr lang="it-IT" sz="1800" spc="-6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ogni</a:t>
            </a:r>
            <a:r>
              <a:rPr lang="it-IT" sz="1800" spc="-30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entità</a:t>
            </a:r>
            <a:r>
              <a:rPr lang="it-IT" sz="1800" spc="-45" dirty="0">
                <a:latin typeface="Corbel"/>
                <a:cs typeface="Corbel"/>
              </a:rPr>
              <a:t> </a:t>
            </a:r>
            <a:r>
              <a:rPr lang="it-IT" sz="1800" dirty="0">
                <a:latin typeface="Corbel"/>
                <a:cs typeface="Corbel"/>
              </a:rPr>
              <a:t>è</a:t>
            </a:r>
            <a:r>
              <a:rPr lang="it-IT" sz="1800" spc="2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necessario</a:t>
            </a:r>
            <a:r>
              <a:rPr lang="it-IT" sz="1800" spc="-12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verificare</a:t>
            </a:r>
            <a:r>
              <a:rPr lang="it-IT" sz="1800" spc="-135" dirty="0">
                <a:latin typeface="Corbel"/>
                <a:cs typeface="Corbel"/>
              </a:rPr>
              <a:t> </a:t>
            </a:r>
            <a:r>
              <a:rPr lang="it-IT" sz="1800" spc="5" dirty="0">
                <a:latin typeface="Corbel"/>
                <a:cs typeface="Corbel"/>
              </a:rPr>
              <a:t>se</a:t>
            </a:r>
            <a:r>
              <a:rPr lang="it-IT" sz="1800" spc="-60" dirty="0">
                <a:latin typeface="Corbel"/>
                <a:cs typeface="Corbel"/>
              </a:rPr>
              <a:t> </a:t>
            </a:r>
            <a:r>
              <a:rPr lang="it-IT" sz="1800" spc="5" dirty="0">
                <a:latin typeface="Corbel"/>
                <a:cs typeface="Corbel"/>
              </a:rPr>
              <a:t>esistono</a:t>
            </a:r>
            <a:r>
              <a:rPr lang="it-IT" sz="1800" spc="-4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dipendenze</a:t>
            </a:r>
            <a:r>
              <a:rPr lang="it-IT" sz="1800" spc="-13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funzionali</a:t>
            </a:r>
            <a:r>
              <a:rPr lang="it-IT" sz="1800" spc="-10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che</a:t>
            </a:r>
            <a:endParaRPr lang="it-IT" sz="1800" dirty="0">
              <a:latin typeface="Corbel"/>
              <a:cs typeface="Corbel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lang="it-IT" sz="1800" spc="15" dirty="0">
                <a:latin typeface="Corbel"/>
                <a:cs typeface="Corbel"/>
              </a:rPr>
              <a:t>s</a:t>
            </a:r>
            <a:r>
              <a:rPr lang="it-IT" sz="1800" spc="-35" dirty="0">
                <a:latin typeface="Corbel"/>
                <a:cs typeface="Corbel"/>
              </a:rPr>
              <a:t>u</a:t>
            </a:r>
            <a:r>
              <a:rPr lang="it-IT" sz="1800" spc="15" dirty="0">
                <a:latin typeface="Corbel"/>
                <a:cs typeface="Corbel"/>
              </a:rPr>
              <a:t>ss</a:t>
            </a:r>
            <a:r>
              <a:rPr lang="it-IT" sz="1800" spc="30" dirty="0">
                <a:latin typeface="Corbel"/>
                <a:cs typeface="Corbel"/>
              </a:rPr>
              <a:t>i</a:t>
            </a:r>
            <a:r>
              <a:rPr lang="it-IT" sz="1800" spc="15" dirty="0">
                <a:latin typeface="Corbel"/>
                <a:cs typeface="Corbel"/>
              </a:rPr>
              <a:t>s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10" dirty="0">
                <a:latin typeface="Corbel"/>
                <a:cs typeface="Corbel"/>
              </a:rPr>
              <a:t>o</a:t>
            </a:r>
            <a:r>
              <a:rPr lang="it-IT" sz="1800" spc="20" dirty="0">
                <a:latin typeface="Corbel"/>
                <a:cs typeface="Corbel"/>
              </a:rPr>
              <a:t>n</a:t>
            </a:r>
            <a:r>
              <a:rPr lang="it-IT" sz="1800" dirty="0">
                <a:latin typeface="Corbel"/>
                <a:cs typeface="Corbel"/>
              </a:rPr>
              <a:t>o</a:t>
            </a:r>
            <a:r>
              <a:rPr lang="it-IT" sz="1800" spc="-125" dirty="0">
                <a:latin typeface="Corbel"/>
                <a:cs typeface="Corbel"/>
              </a:rPr>
              <a:t> </a:t>
            </a:r>
            <a:r>
              <a:rPr lang="it-IT" sz="1800" spc="25" dirty="0">
                <a:latin typeface="Corbel"/>
                <a:cs typeface="Corbel"/>
              </a:rPr>
              <a:t>f</a:t>
            </a:r>
            <a:r>
              <a:rPr lang="it-IT" sz="1800" dirty="0">
                <a:latin typeface="Corbel"/>
                <a:cs typeface="Corbel"/>
              </a:rPr>
              <a:t>ra</a:t>
            </a:r>
            <a:r>
              <a:rPr lang="it-IT" sz="1800" spc="-55" dirty="0">
                <a:latin typeface="Corbel"/>
                <a:cs typeface="Corbel"/>
              </a:rPr>
              <a:t> </a:t>
            </a:r>
            <a:r>
              <a:rPr lang="it-IT" sz="1800" spc="15" dirty="0">
                <a:latin typeface="Corbel"/>
                <a:cs typeface="Corbel"/>
              </a:rPr>
              <a:t>g</a:t>
            </a:r>
            <a:r>
              <a:rPr lang="it-IT" sz="1800" spc="30" dirty="0">
                <a:latin typeface="Corbel"/>
                <a:cs typeface="Corbel"/>
              </a:rPr>
              <a:t>l</a:t>
            </a:r>
            <a:r>
              <a:rPr lang="it-IT" sz="1800" dirty="0">
                <a:latin typeface="Corbel"/>
                <a:cs typeface="Corbel"/>
              </a:rPr>
              <a:t>i</a:t>
            </a:r>
            <a:r>
              <a:rPr lang="it-IT" sz="1800" spc="-35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a</a:t>
            </a:r>
            <a:r>
              <a:rPr lang="it-IT" sz="1800" spc="-30" dirty="0">
                <a:latin typeface="Corbel"/>
                <a:cs typeface="Corbel"/>
              </a:rPr>
              <a:t>tt</a:t>
            </a:r>
            <a:r>
              <a:rPr lang="it-IT" sz="1800" dirty="0">
                <a:latin typeface="Corbel"/>
                <a:cs typeface="Corbel"/>
              </a:rPr>
              <a:t>r</a:t>
            </a:r>
            <a:r>
              <a:rPr lang="it-IT" sz="1800" spc="25" dirty="0">
                <a:latin typeface="Corbel"/>
                <a:cs typeface="Corbel"/>
              </a:rPr>
              <a:t>i</a:t>
            </a:r>
            <a:r>
              <a:rPr lang="it-IT" sz="1800" spc="5" dirty="0">
                <a:latin typeface="Corbel"/>
                <a:cs typeface="Corbel"/>
              </a:rPr>
              <a:t>b</a:t>
            </a:r>
            <a:r>
              <a:rPr lang="it-IT" sz="1800" spc="-35" dirty="0">
                <a:latin typeface="Corbel"/>
                <a:cs typeface="Corbel"/>
              </a:rPr>
              <a:t>u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dirty="0">
                <a:latin typeface="Corbel"/>
                <a:cs typeface="Corbel"/>
              </a:rPr>
              <a:t>i</a:t>
            </a:r>
            <a:r>
              <a:rPr lang="it-IT" sz="1800" spc="40" dirty="0">
                <a:latin typeface="Corbel"/>
                <a:cs typeface="Corbel"/>
              </a:rPr>
              <a:t> </a:t>
            </a:r>
            <a:r>
              <a:rPr lang="it-IT" sz="1800" spc="5" dirty="0">
                <a:latin typeface="Corbel"/>
                <a:cs typeface="Corbel"/>
              </a:rPr>
              <a:t>d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30" dirty="0">
                <a:latin typeface="Corbel"/>
                <a:cs typeface="Corbel"/>
              </a:rPr>
              <a:t>ll</a:t>
            </a:r>
            <a:r>
              <a:rPr lang="it-IT" sz="1800" spc="20" dirty="0">
                <a:latin typeface="Corbel"/>
                <a:cs typeface="Corbel"/>
              </a:rPr>
              <a:t>'</a:t>
            </a:r>
            <a:r>
              <a:rPr lang="it-IT" sz="1800" dirty="0">
                <a:latin typeface="Corbel"/>
                <a:cs typeface="Corbel"/>
              </a:rPr>
              <a:t>e</a:t>
            </a:r>
            <a:r>
              <a:rPr lang="it-IT" sz="1800" spc="25" dirty="0">
                <a:latin typeface="Corbel"/>
                <a:cs typeface="Corbel"/>
              </a:rPr>
              <a:t>n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30" dirty="0">
                <a:latin typeface="Corbel"/>
                <a:cs typeface="Corbel"/>
              </a:rPr>
              <a:t>i</a:t>
            </a:r>
            <a:r>
              <a:rPr lang="it-IT" sz="1800" spc="-30" dirty="0">
                <a:latin typeface="Corbel"/>
                <a:cs typeface="Corbel"/>
              </a:rPr>
              <a:t>t</a:t>
            </a:r>
            <a:r>
              <a:rPr lang="it-IT" sz="1800" spc="10" dirty="0">
                <a:latin typeface="Corbel"/>
                <a:cs typeface="Corbel"/>
              </a:rPr>
              <a:t>à</a:t>
            </a:r>
            <a:r>
              <a:rPr lang="it-IT" sz="1800" dirty="0">
                <a:latin typeface="Corbel"/>
                <a:cs typeface="Corbel"/>
              </a:rPr>
              <a:t>.</a:t>
            </a:r>
          </a:p>
          <a:p>
            <a:pPr marL="12700">
              <a:lnSpc>
                <a:spcPct val="100000"/>
              </a:lnSpc>
              <a:spcBef>
                <a:spcPts val="15"/>
              </a:spcBef>
              <a:tabLst>
                <a:tab pos="5006975" algn="l"/>
              </a:tabLst>
            </a:pPr>
            <a:r>
              <a:rPr lang="it-IT" sz="1800" dirty="0">
                <a:latin typeface="Corbel"/>
                <a:cs typeface="Corbel"/>
              </a:rPr>
              <a:t>Esiste</a:t>
            </a:r>
            <a:r>
              <a:rPr lang="it-IT" sz="1800" spc="-45" dirty="0">
                <a:latin typeface="Corbel"/>
                <a:cs typeface="Corbel"/>
              </a:rPr>
              <a:t> </a:t>
            </a:r>
            <a:r>
              <a:rPr lang="it-IT" sz="1800" spc="-5" dirty="0">
                <a:latin typeface="Corbel"/>
                <a:cs typeface="Corbel"/>
              </a:rPr>
              <a:t>una</a:t>
            </a:r>
            <a:r>
              <a:rPr lang="it-IT" sz="1800" spc="50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dipendenza</a:t>
            </a:r>
            <a:r>
              <a:rPr lang="it-IT" sz="1800" spc="-114" dirty="0">
                <a:latin typeface="Corbel"/>
                <a:cs typeface="Corbel"/>
              </a:rPr>
              <a:t> </a:t>
            </a:r>
            <a:r>
              <a:rPr lang="it-IT" sz="1800" spc="10" dirty="0">
                <a:latin typeface="Corbel"/>
                <a:cs typeface="Corbel"/>
              </a:rPr>
              <a:t>funzionale</a:t>
            </a:r>
            <a:r>
              <a:rPr lang="it-IT" sz="1800" spc="-65" dirty="0">
                <a:latin typeface="Corbel"/>
                <a:cs typeface="Corbel"/>
              </a:rPr>
              <a:t> </a:t>
            </a:r>
            <a:r>
              <a:rPr lang="it-IT" sz="1800" spc="5" dirty="0" err="1">
                <a:latin typeface="Corbel"/>
                <a:cs typeface="Corbel"/>
              </a:rPr>
              <a:t>CasaEditrice</a:t>
            </a:r>
            <a:r>
              <a:rPr lang="it-IT" sz="1800" spc="5" dirty="0">
                <a:latin typeface="Corbel"/>
                <a:cs typeface="Corbel"/>
              </a:rPr>
              <a:t>	</a:t>
            </a:r>
            <a:r>
              <a:rPr lang="it-IT" sz="1800" dirty="0" err="1">
                <a:latin typeface="Corbel"/>
                <a:cs typeface="Corbel"/>
              </a:rPr>
              <a:t>SedeCasaEditrice</a:t>
            </a:r>
            <a:endParaRPr lang="it-IT" sz="1800" dirty="0">
              <a:latin typeface="Corbel"/>
              <a:cs typeface="Corbel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2A78BF97-B3A8-A715-291C-241CC3B54784}"/>
              </a:ext>
            </a:extLst>
          </p:cNvPr>
          <p:cNvCxnSpPr/>
          <p:nvPr/>
        </p:nvCxnSpPr>
        <p:spPr>
          <a:xfrm>
            <a:off x="5270014" y="2659439"/>
            <a:ext cx="4188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magine 9">
            <a:extLst>
              <a:ext uri="{FF2B5EF4-FFF2-40B4-BE49-F238E27FC236}">
                <a16:creationId xmlns:a16="http://schemas.microsoft.com/office/drawing/2014/main" id="{694DBED4-F47D-5E3D-0D93-8AD59ADB5BE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730209" y="3591278"/>
            <a:ext cx="3599815" cy="1088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632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248D92-41BD-B1A7-37AB-39A193760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507" y="1361936"/>
            <a:ext cx="7065956" cy="388077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Corbel" panose="020B0503020204020204" pitchFamily="34" charset="0"/>
              </a:rPr>
              <a:t>La progettazione fisica definisce come lo schema logico viene implementato concretamente nel DBMS scelto.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0AC34E7E-5988-1D53-B27D-ACB7195CEA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7863" y="609600"/>
            <a:ext cx="8596312" cy="13208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Progettazione</a:t>
            </a:r>
            <a:r>
              <a:rPr spc="235" dirty="0"/>
              <a:t> </a:t>
            </a:r>
            <a:r>
              <a:rPr spc="-5" dirty="0"/>
              <a:t>fisica</a:t>
            </a:r>
          </a:p>
        </p:txBody>
      </p:sp>
    </p:spTree>
    <p:extLst>
      <p:ext uri="{BB962C8B-B14F-4D97-AF65-F5344CB8AC3E}">
        <p14:creationId xmlns:p14="http://schemas.microsoft.com/office/powerpoint/2010/main" val="1886549638"/>
      </p:ext>
    </p:extLst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F496CB"/>
      </a:accent1>
      <a:accent2>
        <a:srgbClr val="BC356F"/>
      </a:accent2>
      <a:accent3>
        <a:srgbClr val="E65331"/>
      </a:accent3>
      <a:accent4>
        <a:srgbClr val="F27E19"/>
      </a:accent4>
      <a:accent5>
        <a:srgbClr val="F2AC19"/>
      </a:accent5>
      <a:accent6>
        <a:srgbClr val="BC80E0"/>
      </a:accent6>
      <a:hlink>
        <a:srgbClr val="EF5285"/>
      </a:hlink>
      <a:folHlink>
        <a:srgbClr val="F77F90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2998</TotalTime>
  <Words>472</Words>
  <Application>Microsoft Office PowerPoint</Application>
  <PresentationFormat>Widescreen</PresentationFormat>
  <Paragraphs>32</Paragraphs>
  <Slides>12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9" baseType="lpstr">
      <vt:lpstr>Arial</vt:lpstr>
      <vt:lpstr>Calibri</vt:lpstr>
      <vt:lpstr>Corbel</vt:lpstr>
      <vt:lpstr>Courier New</vt:lpstr>
      <vt:lpstr>Trebuchet MS</vt:lpstr>
      <vt:lpstr>Wingdings 3</vt:lpstr>
      <vt:lpstr>Sfaccettatura</vt:lpstr>
      <vt:lpstr>BASI DI DATI </vt:lpstr>
      <vt:lpstr>Presentazione standard di PowerPoint</vt:lpstr>
      <vt:lpstr>Capire cosa progettare</vt:lpstr>
      <vt:lpstr>Capire come progettare</vt:lpstr>
      <vt:lpstr>Presentazione standard di PowerPoint</vt:lpstr>
      <vt:lpstr>Dizionario dei Dati</vt:lpstr>
      <vt:lpstr>Progettazione logica</vt:lpstr>
      <vt:lpstr>Ristrutturazione dello schema  Entità-Relazione</vt:lpstr>
      <vt:lpstr>Schema E-R dopo  la ristrutturazione</vt:lpstr>
      <vt:lpstr>Traduzione verso il modello logico</vt:lpstr>
      <vt:lpstr>Esempio di normalizzazione</vt:lpstr>
      <vt:lpstr>Progettazione fisica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 DI DATI </dc:title>
  <dc:creator>damiana1995@yahoo.it</dc:creator>
  <cp:lastModifiedBy>damiana arangio</cp:lastModifiedBy>
  <cp:revision>11</cp:revision>
  <dcterms:created xsi:type="dcterms:W3CDTF">2023-12-18T21:30:12Z</dcterms:created>
  <dcterms:modified xsi:type="dcterms:W3CDTF">2026-09-04T19:40:20Z</dcterms:modified>
</cp:coreProperties>
</file>