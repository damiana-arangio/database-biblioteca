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2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5493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1553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4975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097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0007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5129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8345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954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684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8985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1292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2723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1192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5178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1783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8679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B1999-50FF-419E-BFFA-5C9C89EE8308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16288D5D-A84C-4C65-8AE1-7C950DD31E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545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4A5790-330F-B858-627C-C901A4DB8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9639" y="1466718"/>
            <a:ext cx="7766936" cy="1646302"/>
          </a:xfrm>
        </p:spPr>
        <p:txBody>
          <a:bodyPr/>
          <a:lstStyle/>
          <a:p>
            <a:pPr marL="1045844" algn="l">
              <a:lnSpc>
                <a:spcPct val="100000"/>
              </a:lnSpc>
              <a:spcBef>
                <a:spcPts val="2800"/>
              </a:spcBef>
            </a:pPr>
            <a:r>
              <a:rPr lang="it-IT" sz="6000" spc="-10" dirty="0"/>
              <a:t>BASI</a:t>
            </a:r>
            <a:r>
              <a:rPr lang="it-IT" sz="6000" spc="-30" dirty="0"/>
              <a:t> </a:t>
            </a:r>
            <a:r>
              <a:rPr lang="it-IT" sz="6000" spc="10" dirty="0"/>
              <a:t>DI</a:t>
            </a:r>
            <a:r>
              <a:rPr lang="it-IT" sz="6000" spc="-100" dirty="0"/>
              <a:t> </a:t>
            </a:r>
            <a:r>
              <a:rPr lang="it-IT" sz="6000" spc="-75" dirty="0"/>
              <a:t>DATI</a:t>
            </a:r>
            <a:br>
              <a:rPr lang="it-IT" sz="9600" dirty="0"/>
            </a:b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C3D258D-BDCC-E220-DA1E-BC2BF5B3C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3218" y="2185168"/>
            <a:ext cx="7766936" cy="404470"/>
          </a:xfrm>
        </p:spPr>
        <p:txBody>
          <a:bodyPr/>
          <a:lstStyle/>
          <a:p>
            <a:pPr algn="ctr"/>
            <a:r>
              <a:rPr lang="it-IT" sz="1800" spc="5" dirty="0"/>
              <a:t>Obiettivo:</a:t>
            </a:r>
            <a:r>
              <a:rPr lang="it-IT" sz="1800" spc="-75" dirty="0"/>
              <a:t> </a:t>
            </a:r>
            <a:r>
              <a:rPr lang="it-IT" sz="1800" dirty="0"/>
              <a:t>progettazione</a:t>
            </a:r>
            <a:r>
              <a:rPr lang="it-IT" sz="1800" spc="-90" dirty="0"/>
              <a:t> </a:t>
            </a:r>
            <a:r>
              <a:rPr lang="it-IT" sz="1800" dirty="0"/>
              <a:t>di</a:t>
            </a:r>
            <a:r>
              <a:rPr lang="it-IT" sz="1800" spc="-5" dirty="0"/>
              <a:t> </a:t>
            </a:r>
            <a:r>
              <a:rPr lang="it-IT" sz="1800" spc="15" dirty="0"/>
              <a:t>una</a:t>
            </a:r>
            <a:r>
              <a:rPr lang="it-IT" sz="1800" spc="-25" dirty="0"/>
              <a:t> </a:t>
            </a:r>
            <a:r>
              <a:rPr lang="it-IT" sz="1800" spc="-5" dirty="0"/>
              <a:t>base</a:t>
            </a:r>
            <a:r>
              <a:rPr lang="it-IT" sz="1800" spc="40" dirty="0"/>
              <a:t> </a:t>
            </a:r>
            <a:r>
              <a:rPr lang="it-IT" sz="1800" dirty="0"/>
              <a:t>di</a:t>
            </a:r>
            <a:r>
              <a:rPr lang="it-IT" sz="1800" spc="-10" dirty="0"/>
              <a:t> </a:t>
            </a:r>
            <a:r>
              <a:rPr lang="it-IT" sz="1800" spc="10" dirty="0"/>
              <a:t>dati.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CA6055B-CED6-9A92-AD97-C2A82E081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013" y="2945497"/>
            <a:ext cx="4145346" cy="287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857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8123F55-522F-763A-CB64-0E2A061695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914" y="1219200"/>
            <a:ext cx="267716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In</a:t>
            </a:r>
            <a:r>
              <a:rPr spc="-25" dirty="0"/>
              <a:t>t</a:t>
            </a:r>
            <a:r>
              <a:rPr spc="20" dirty="0"/>
              <a:t>r</a:t>
            </a:r>
            <a:r>
              <a:rPr spc="-10" dirty="0"/>
              <a:t>o</a:t>
            </a:r>
            <a:r>
              <a:rPr spc="-20" dirty="0"/>
              <a:t>du</a:t>
            </a:r>
            <a:r>
              <a:rPr spc="35" dirty="0"/>
              <a:t>z</a:t>
            </a:r>
            <a:r>
              <a:rPr spc="-15" dirty="0"/>
              <a:t>io</a:t>
            </a:r>
            <a:r>
              <a:rPr spc="10" dirty="0"/>
              <a:t>ne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71F4F0A-F7CF-F2E3-DBC1-97FEE03C69C4}"/>
              </a:ext>
            </a:extLst>
          </p:cNvPr>
          <p:cNvSpPr txBox="1"/>
          <p:nvPr/>
        </p:nvSpPr>
        <p:spPr>
          <a:xfrm>
            <a:off x="1113904" y="2201035"/>
            <a:ext cx="6329045" cy="251972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89915">
              <a:lnSpc>
                <a:spcPct val="100800"/>
              </a:lnSpc>
              <a:spcBef>
                <a:spcPts val="85"/>
              </a:spcBef>
            </a:pPr>
            <a:r>
              <a:rPr sz="1800" spc="10" dirty="0">
                <a:latin typeface="Corbel"/>
                <a:cs typeface="Corbel"/>
              </a:rPr>
              <a:t>Incominceremo </a:t>
            </a:r>
            <a:r>
              <a:rPr sz="1800" spc="5" dirty="0">
                <a:latin typeface="Corbel"/>
                <a:cs typeface="Corbel"/>
              </a:rPr>
              <a:t>ad affrontare </a:t>
            </a:r>
            <a:r>
              <a:rPr sz="1800" spc="15" dirty="0">
                <a:latin typeface="Corbel"/>
                <a:cs typeface="Corbel"/>
              </a:rPr>
              <a:t>il </a:t>
            </a:r>
            <a:r>
              <a:rPr sz="1800" spc="10" dirty="0">
                <a:latin typeface="Corbel"/>
                <a:cs typeface="Corbel"/>
              </a:rPr>
              <a:t>problema </a:t>
            </a:r>
            <a:r>
              <a:rPr sz="1800" spc="15" dirty="0">
                <a:latin typeface="Corbel"/>
                <a:cs typeface="Corbel"/>
              </a:rPr>
              <a:t>che </a:t>
            </a:r>
            <a:r>
              <a:rPr sz="1800" spc="5" dirty="0">
                <a:latin typeface="Corbel"/>
                <a:cs typeface="Corbel"/>
              </a:rPr>
              <a:t>esiste al </a:t>
            </a:r>
            <a:r>
              <a:rPr sz="1800" spc="1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monte,</a:t>
            </a:r>
            <a:r>
              <a:rPr sz="1800" spc="-5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quello</a:t>
            </a:r>
            <a:r>
              <a:rPr sz="1800" spc="-12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di</a:t>
            </a:r>
            <a:r>
              <a:rPr sz="1800" spc="4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progettare</a:t>
            </a:r>
            <a:r>
              <a:rPr sz="1800" spc="-60" dirty="0">
                <a:latin typeface="Corbel"/>
                <a:cs typeface="Corbel"/>
              </a:rPr>
              <a:t> </a:t>
            </a:r>
            <a:r>
              <a:rPr sz="1800" spc="-5" dirty="0">
                <a:latin typeface="Corbel"/>
                <a:cs typeface="Corbel"/>
              </a:rPr>
              <a:t>una</a:t>
            </a:r>
            <a:r>
              <a:rPr sz="1800" spc="30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base</a:t>
            </a:r>
            <a:r>
              <a:rPr sz="1800" spc="-5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di</a:t>
            </a:r>
            <a:r>
              <a:rPr sz="1800" spc="-30" dirty="0">
                <a:latin typeface="Corbel"/>
                <a:cs typeface="Corbel"/>
              </a:rPr>
              <a:t> </a:t>
            </a:r>
            <a:r>
              <a:rPr sz="1800" spc="-5" dirty="0">
                <a:latin typeface="Corbel"/>
                <a:cs typeface="Corbel"/>
              </a:rPr>
              <a:t>dati</a:t>
            </a:r>
            <a:r>
              <a:rPr sz="1800" spc="5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a</a:t>
            </a:r>
            <a:r>
              <a:rPr sz="1800" spc="-45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partire</a:t>
            </a:r>
            <a:r>
              <a:rPr sz="1800" spc="-60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dai</a:t>
            </a:r>
            <a:r>
              <a:rPr sz="1800" spc="-3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suoi</a:t>
            </a:r>
          </a:p>
          <a:p>
            <a:pPr marL="12700" marR="35560">
              <a:lnSpc>
                <a:spcPct val="100800"/>
              </a:lnSpc>
            </a:pPr>
            <a:r>
              <a:rPr sz="1800" spc="5" dirty="0">
                <a:latin typeface="Corbel"/>
                <a:cs typeface="Corbel"/>
              </a:rPr>
              <a:t>requisiti, </a:t>
            </a:r>
            <a:r>
              <a:rPr sz="1800" spc="-5" dirty="0">
                <a:latin typeface="Corbel"/>
                <a:cs typeface="Corbel"/>
              </a:rPr>
              <a:t>ovvero </a:t>
            </a:r>
            <a:r>
              <a:rPr sz="1800" spc="10" dirty="0">
                <a:latin typeface="Corbel"/>
                <a:cs typeface="Corbel"/>
              </a:rPr>
              <a:t>definendo </a:t>
            </a:r>
            <a:r>
              <a:rPr sz="1800" spc="15" dirty="0">
                <a:latin typeface="Corbel"/>
                <a:cs typeface="Corbel"/>
              </a:rPr>
              <a:t>la </a:t>
            </a:r>
            <a:r>
              <a:rPr sz="1800" spc="-15" dirty="0">
                <a:latin typeface="Corbel"/>
                <a:cs typeface="Corbel"/>
              </a:rPr>
              <a:t>struttura, </a:t>
            </a:r>
            <a:r>
              <a:rPr sz="1800" dirty="0">
                <a:latin typeface="Corbel"/>
                <a:cs typeface="Corbel"/>
              </a:rPr>
              <a:t>contenuto e caratteristiche </a:t>
            </a:r>
            <a:r>
              <a:rPr sz="1800" spc="-350" dirty="0">
                <a:latin typeface="Corbel"/>
                <a:cs typeface="Corbel"/>
              </a:rPr>
              <a:t> </a:t>
            </a:r>
            <a:r>
              <a:rPr sz="1800" spc="-35" dirty="0">
                <a:latin typeface="Corbel"/>
                <a:cs typeface="Corbel"/>
              </a:rPr>
              <a:t>u</a:t>
            </a:r>
            <a:r>
              <a:rPr sz="1800" spc="-30" dirty="0">
                <a:latin typeface="Corbel"/>
                <a:cs typeface="Corbel"/>
              </a:rPr>
              <a:t>t</a:t>
            </a:r>
            <a:r>
              <a:rPr sz="1800" spc="30" dirty="0">
                <a:latin typeface="Corbel"/>
                <a:cs typeface="Corbel"/>
              </a:rPr>
              <a:t>ili</a:t>
            </a:r>
            <a:r>
              <a:rPr sz="1800" spc="20" dirty="0">
                <a:latin typeface="Corbel"/>
                <a:cs typeface="Corbel"/>
              </a:rPr>
              <a:t>zz</a:t>
            </a:r>
            <a:r>
              <a:rPr sz="1800" spc="10" dirty="0">
                <a:latin typeface="Corbel"/>
                <a:cs typeface="Corbel"/>
              </a:rPr>
              <a:t>a</a:t>
            </a:r>
            <a:r>
              <a:rPr sz="1800" spc="20" dirty="0">
                <a:latin typeface="Corbel"/>
                <a:cs typeface="Corbel"/>
              </a:rPr>
              <a:t>n</a:t>
            </a:r>
            <a:r>
              <a:rPr sz="1800" spc="5" dirty="0">
                <a:latin typeface="Corbel"/>
                <a:cs typeface="Corbel"/>
              </a:rPr>
              <a:t>d</a:t>
            </a:r>
            <a:r>
              <a:rPr sz="1800" dirty="0">
                <a:latin typeface="Corbel"/>
                <a:cs typeface="Corbel"/>
              </a:rPr>
              <a:t>o</a:t>
            </a:r>
            <a:r>
              <a:rPr sz="1800" spc="-125" dirty="0">
                <a:latin typeface="Corbel"/>
                <a:cs typeface="Corbel"/>
              </a:rPr>
              <a:t> </a:t>
            </a:r>
            <a:r>
              <a:rPr sz="1800" spc="30" dirty="0">
                <a:latin typeface="Corbel"/>
                <a:cs typeface="Corbel"/>
              </a:rPr>
              <a:t>l</a:t>
            </a:r>
            <a:r>
              <a:rPr sz="1800" dirty="0">
                <a:latin typeface="Corbel"/>
                <a:cs typeface="Corbel"/>
              </a:rPr>
              <a:t>e</a:t>
            </a:r>
            <a:r>
              <a:rPr sz="1800" spc="-6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me</a:t>
            </a:r>
            <a:r>
              <a:rPr sz="1800" spc="-25" dirty="0">
                <a:latin typeface="Corbel"/>
                <a:cs typeface="Corbel"/>
              </a:rPr>
              <a:t>t</a:t>
            </a:r>
            <a:r>
              <a:rPr sz="1800" spc="10" dirty="0">
                <a:latin typeface="Corbel"/>
                <a:cs typeface="Corbel"/>
              </a:rPr>
              <a:t>o</a:t>
            </a:r>
            <a:r>
              <a:rPr sz="1800" spc="5" dirty="0">
                <a:latin typeface="Corbel"/>
                <a:cs typeface="Corbel"/>
              </a:rPr>
              <a:t>d</a:t>
            </a:r>
            <a:r>
              <a:rPr sz="1800" spc="10" dirty="0">
                <a:latin typeface="Corbel"/>
                <a:cs typeface="Corbel"/>
              </a:rPr>
              <a:t>o</a:t>
            </a:r>
            <a:r>
              <a:rPr sz="1800" spc="30" dirty="0">
                <a:latin typeface="Corbel"/>
                <a:cs typeface="Corbel"/>
              </a:rPr>
              <a:t>l</a:t>
            </a:r>
            <a:r>
              <a:rPr sz="1800" spc="10" dirty="0">
                <a:latin typeface="Corbel"/>
                <a:cs typeface="Corbel"/>
              </a:rPr>
              <a:t>o</a:t>
            </a:r>
            <a:r>
              <a:rPr sz="1800" spc="15" dirty="0">
                <a:latin typeface="Corbel"/>
                <a:cs typeface="Corbel"/>
              </a:rPr>
              <a:t>g</a:t>
            </a:r>
            <a:r>
              <a:rPr sz="1800" spc="30" dirty="0">
                <a:latin typeface="Corbel"/>
                <a:cs typeface="Corbel"/>
              </a:rPr>
              <a:t>i</a:t>
            </a:r>
            <a:r>
              <a:rPr sz="1800" dirty="0">
                <a:latin typeface="Corbel"/>
                <a:cs typeface="Corbel"/>
              </a:rPr>
              <a:t>e</a:t>
            </a:r>
            <a:r>
              <a:rPr sz="1800" spc="-95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o</a:t>
            </a:r>
            <a:r>
              <a:rPr sz="1800" spc="15" dirty="0">
                <a:latin typeface="Corbel"/>
                <a:cs typeface="Corbel"/>
              </a:rPr>
              <a:t>pp</a:t>
            </a:r>
            <a:r>
              <a:rPr sz="1800" spc="10" dirty="0">
                <a:latin typeface="Corbel"/>
                <a:cs typeface="Corbel"/>
              </a:rPr>
              <a:t>o</a:t>
            </a:r>
            <a:r>
              <a:rPr sz="1800" dirty="0">
                <a:latin typeface="Corbel"/>
                <a:cs typeface="Corbel"/>
              </a:rPr>
              <a:t>r</a:t>
            </a:r>
            <a:r>
              <a:rPr sz="1800" spc="-30" dirty="0">
                <a:latin typeface="Corbel"/>
                <a:cs typeface="Corbel"/>
              </a:rPr>
              <a:t>t</a:t>
            </a:r>
            <a:r>
              <a:rPr sz="1800" spc="-35" dirty="0">
                <a:latin typeface="Corbel"/>
                <a:cs typeface="Corbel"/>
              </a:rPr>
              <a:t>u</a:t>
            </a:r>
            <a:r>
              <a:rPr sz="1800" spc="20" dirty="0">
                <a:latin typeface="Corbel"/>
                <a:cs typeface="Corbel"/>
              </a:rPr>
              <a:t>n</a:t>
            </a:r>
            <a:r>
              <a:rPr sz="1800" dirty="0">
                <a:latin typeface="Corbel"/>
                <a:cs typeface="Corbel"/>
              </a:rPr>
              <a:t>e.</a:t>
            </a:r>
            <a:endParaRPr lang="it-IT" sz="1800" dirty="0">
              <a:latin typeface="Corbel"/>
              <a:cs typeface="Corbel"/>
            </a:endParaRPr>
          </a:p>
          <a:p>
            <a:pPr marL="12700" marR="35560">
              <a:lnSpc>
                <a:spcPct val="100800"/>
              </a:lnSpc>
            </a:pPr>
            <a:endParaRPr lang="it-IT" spc="-10" dirty="0">
              <a:latin typeface="Corbel"/>
              <a:cs typeface="Corbel"/>
            </a:endParaRPr>
          </a:p>
          <a:p>
            <a:pPr marL="298450" marR="35560" indent="-285750">
              <a:lnSpc>
                <a:spcPct val="100800"/>
              </a:lnSpc>
              <a:buFont typeface="Arial" panose="020B0604020202020204" pitchFamily="34" charset="0"/>
              <a:buChar char="•"/>
            </a:pPr>
            <a:r>
              <a:rPr lang="it-IT" spc="-10" dirty="0">
                <a:latin typeface="Corbel"/>
                <a:cs typeface="Corbel"/>
              </a:rPr>
              <a:t>Si</a:t>
            </a:r>
            <a:r>
              <a:rPr lang="it-IT" sz="1800" spc="-10" dirty="0">
                <a:latin typeface="Corbel"/>
                <a:cs typeface="Corbel"/>
              </a:rPr>
              <a:t> è </a:t>
            </a:r>
            <a:r>
              <a:rPr sz="1800" spc="10" dirty="0" err="1">
                <a:latin typeface="Corbel"/>
                <a:cs typeface="Corbel"/>
              </a:rPr>
              <a:t>consolidata</a:t>
            </a:r>
            <a:r>
              <a:rPr sz="1800" spc="-120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negli</a:t>
            </a:r>
            <a:r>
              <a:rPr sz="1800" spc="-100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anni</a:t>
            </a:r>
            <a:r>
              <a:rPr sz="1800" spc="-100" dirty="0">
                <a:latin typeface="Corbel"/>
                <a:cs typeface="Corbel"/>
              </a:rPr>
              <a:t> </a:t>
            </a:r>
            <a:r>
              <a:rPr sz="1800" spc="-5" dirty="0">
                <a:latin typeface="Corbel"/>
                <a:cs typeface="Corbel"/>
              </a:rPr>
              <a:t>una</a:t>
            </a:r>
            <a:r>
              <a:rPr sz="1800" spc="30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metodologia</a:t>
            </a:r>
            <a:r>
              <a:rPr sz="1800" spc="-120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articolata</a:t>
            </a:r>
            <a:r>
              <a:rPr sz="1800" spc="-120" dirty="0">
                <a:latin typeface="Corbel"/>
                <a:cs typeface="Corbel"/>
              </a:rPr>
              <a:t> </a:t>
            </a:r>
            <a:r>
              <a:rPr sz="1800" spc="15" dirty="0">
                <a:latin typeface="Corbel"/>
                <a:cs typeface="Corbel"/>
              </a:rPr>
              <a:t>in</a:t>
            </a:r>
            <a:r>
              <a:rPr sz="1800" spc="60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tre</a:t>
            </a:r>
            <a:r>
              <a:rPr sz="1800" spc="20" dirty="0">
                <a:latin typeface="Corbel"/>
                <a:cs typeface="Corbel"/>
              </a:rPr>
              <a:t> </a:t>
            </a:r>
            <a:r>
              <a:rPr sz="1800" spc="15" dirty="0" err="1">
                <a:latin typeface="Corbel"/>
                <a:cs typeface="Corbel"/>
              </a:rPr>
              <a:t>fasi</a:t>
            </a:r>
            <a:r>
              <a:rPr sz="1800" spc="15" dirty="0">
                <a:latin typeface="Corbel"/>
                <a:cs typeface="Corbel"/>
              </a:rPr>
              <a:t>:</a:t>
            </a:r>
            <a:endParaRPr lang="it-IT" dirty="0">
              <a:latin typeface="Corbel"/>
              <a:cs typeface="Corbel"/>
            </a:endParaRPr>
          </a:p>
          <a:p>
            <a:pPr marL="755650" marR="35560" lvl="1" indent="-285750">
              <a:lnSpc>
                <a:spcPct val="100800"/>
              </a:lnSpc>
              <a:buFont typeface="Courier New" panose="02070309020205020404" pitchFamily="49" charset="0"/>
              <a:buChar char="o"/>
            </a:pPr>
            <a:r>
              <a:rPr spc="20" dirty="0" err="1">
                <a:latin typeface="Corbel"/>
                <a:cs typeface="Corbel"/>
              </a:rPr>
              <a:t>P</a:t>
            </a:r>
            <a:r>
              <a:rPr dirty="0" err="1">
                <a:latin typeface="Corbel"/>
                <a:cs typeface="Corbel"/>
              </a:rPr>
              <a:t>r</a:t>
            </a:r>
            <a:r>
              <a:rPr spc="10" dirty="0" err="1">
                <a:latin typeface="Corbel"/>
                <a:cs typeface="Corbel"/>
              </a:rPr>
              <a:t>o</a:t>
            </a:r>
            <a:r>
              <a:rPr spc="15" dirty="0" err="1">
                <a:latin typeface="Corbel"/>
                <a:cs typeface="Corbel"/>
              </a:rPr>
              <a:t>g</a:t>
            </a:r>
            <a:r>
              <a:rPr dirty="0" err="1">
                <a:latin typeface="Corbel"/>
                <a:cs typeface="Corbel"/>
              </a:rPr>
              <a:t>e</a:t>
            </a:r>
            <a:r>
              <a:rPr spc="-20" dirty="0" err="1">
                <a:latin typeface="Corbel"/>
                <a:cs typeface="Corbel"/>
              </a:rPr>
              <a:t>t</a:t>
            </a:r>
            <a:r>
              <a:rPr spc="-25" dirty="0" err="1">
                <a:latin typeface="Corbel"/>
                <a:cs typeface="Corbel"/>
              </a:rPr>
              <a:t>t</a:t>
            </a:r>
            <a:r>
              <a:rPr spc="15" dirty="0" err="1">
                <a:latin typeface="Corbel"/>
                <a:cs typeface="Corbel"/>
              </a:rPr>
              <a:t>a</a:t>
            </a:r>
            <a:r>
              <a:rPr spc="20" dirty="0" err="1">
                <a:latin typeface="Corbel"/>
                <a:cs typeface="Corbel"/>
              </a:rPr>
              <a:t>z</a:t>
            </a:r>
            <a:r>
              <a:rPr spc="30" dirty="0" err="1">
                <a:latin typeface="Corbel"/>
                <a:cs typeface="Corbel"/>
              </a:rPr>
              <a:t>i</a:t>
            </a:r>
            <a:r>
              <a:rPr spc="10" dirty="0" err="1">
                <a:latin typeface="Corbel"/>
                <a:cs typeface="Corbel"/>
              </a:rPr>
              <a:t>o</a:t>
            </a:r>
            <a:r>
              <a:rPr spc="20" dirty="0" err="1">
                <a:latin typeface="Corbel"/>
                <a:cs typeface="Corbel"/>
              </a:rPr>
              <a:t>n</a:t>
            </a:r>
            <a:r>
              <a:rPr dirty="0" err="1">
                <a:latin typeface="Corbel"/>
                <a:cs typeface="Corbel"/>
              </a:rPr>
              <a:t>e</a:t>
            </a:r>
            <a:r>
              <a:rPr spc="-130" dirty="0">
                <a:latin typeface="Corbel"/>
                <a:cs typeface="Corbel"/>
              </a:rPr>
              <a:t> </a:t>
            </a:r>
            <a:r>
              <a:rPr spc="35" dirty="0" err="1">
                <a:latin typeface="Corbel"/>
                <a:cs typeface="Corbel"/>
              </a:rPr>
              <a:t>c</a:t>
            </a:r>
            <a:r>
              <a:rPr spc="10" dirty="0" err="1">
                <a:latin typeface="Corbel"/>
                <a:cs typeface="Corbel"/>
              </a:rPr>
              <a:t>o</a:t>
            </a:r>
            <a:r>
              <a:rPr spc="20" dirty="0" err="1">
                <a:latin typeface="Corbel"/>
                <a:cs typeface="Corbel"/>
              </a:rPr>
              <a:t>n</a:t>
            </a:r>
            <a:r>
              <a:rPr spc="35" dirty="0" err="1">
                <a:latin typeface="Corbel"/>
                <a:cs typeface="Corbel"/>
              </a:rPr>
              <a:t>c</a:t>
            </a:r>
            <a:r>
              <a:rPr dirty="0" err="1">
                <a:latin typeface="Corbel"/>
                <a:cs typeface="Corbel"/>
              </a:rPr>
              <a:t>e</a:t>
            </a:r>
            <a:r>
              <a:rPr spc="-20" dirty="0" err="1">
                <a:latin typeface="Corbel"/>
                <a:cs typeface="Corbel"/>
              </a:rPr>
              <a:t>t</a:t>
            </a:r>
            <a:r>
              <a:rPr spc="-25" dirty="0" err="1">
                <a:latin typeface="Corbel"/>
                <a:cs typeface="Corbel"/>
              </a:rPr>
              <a:t>t</a:t>
            </a:r>
            <a:r>
              <a:rPr spc="-30" dirty="0" err="1">
                <a:latin typeface="Corbel"/>
                <a:cs typeface="Corbel"/>
              </a:rPr>
              <a:t>u</a:t>
            </a:r>
            <a:r>
              <a:rPr spc="15" dirty="0" err="1">
                <a:latin typeface="Corbel"/>
                <a:cs typeface="Corbel"/>
              </a:rPr>
              <a:t>a</a:t>
            </a:r>
            <a:r>
              <a:rPr spc="30" dirty="0" err="1">
                <a:latin typeface="Corbel"/>
                <a:cs typeface="Corbel"/>
              </a:rPr>
              <a:t>l</a:t>
            </a:r>
            <a:r>
              <a:rPr dirty="0" err="1">
                <a:latin typeface="Corbel"/>
                <a:cs typeface="Corbel"/>
              </a:rPr>
              <a:t>e</a:t>
            </a:r>
            <a:endParaRPr lang="it-IT" dirty="0">
              <a:latin typeface="Corbel"/>
              <a:cs typeface="Corbel"/>
            </a:endParaRPr>
          </a:p>
          <a:p>
            <a:pPr marL="755650" marR="35560" lvl="1" indent="-285750">
              <a:lnSpc>
                <a:spcPct val="100800"/>
              </a:lnSpc>
              <a:buFont typeface="Courier New" panose="02070309020205020404" pitchFamily="49" charset="0"/>
              <a:buChar char="o"/>
            </a:pPr>
            <a:r>
              <a:rPr spc="20" dirty="0" err="1">
                <a:latin typeface="Corbel"/>
                <a:cs typeface="Corbel"/>
              </a:rPr>
              <a:t>P</a:t>
            </a:r>
            <a:r>
              <a:rPr dirty="0" err="1">
                <a:latin typeface="Corbel"/>
                <a:cs typeface="Corbel"/>
              </a:rPr>
              <a:t>r</a:t>
            </a:r>
            <a:r>
              <a:rPr spc="10" dirty="0" err="1">
                <a:latin typeface="Corbel"/>
                <a:cs typeface="Corbel"/>
              </a:rPr>
              <a:t>o</a:t>
            </a:r>
            <a:r>
              <a:rPr spc="15" dirty="0" err="1">
                <a:latin typeface="Corbel"/>
                <a:cs typeface="Corbel"/>
              </a:rPr>
              <a:t>g</a:t>
            </a:r>
            <a:r>
              <a:rPr dirty="0" err="1">
                <a:latin typeface="Corbel"/>
                <a:cs typeface="Corbel"/>
              </a:rPr>
              <a:t>e</a:t>
            </a:r>
            <a:r>
              <a:rPr spc="-20" dirty="0" err="1">
                <a:latin typeface="Corbel"/>
                <a:cs typeface="Corbel"/>
              </a:rPr>
              <a:t>t</a:t>
            </a:r>
            <a:r>
              <a:rPr spc="-25" dirty="0" err="1">
                <a:latin typeface="Corbel"/>
                <a:cs typeface="Corbel"/>
              </a:rPr>
              <a:t>t</a:t>
            </a:r>
            <a:r>
              <a:rPr spc="15" dirty="0" err="1">
                <a:latin typeface="Corbel"/>
                <a:cs typeface="Corbel"/>
              </a:rPr>
              <a:t>a</a:t>
            </a:r>
            <a:r>
              <a:rPr spc="20" dirty="0" err="1">
                <a:latin typeface="Corbel"/>
                <a:cs typeface="Corbel"/>
              </a:rPr>
              <a:t>z</a:t>
            </a:r>
            <a:r>
              <a:rPr spc="30" dirty="0" err="1">
                <a:latin typeface="Corbel"/>
                <a:cs typeface="Corbel"/>
              </a:rPr>
              <a:t>i</a:t>
            </a:r>
            <a:r>
              <a:rPr spc="10" dirty="0" err="1">
                <a:latin typeface="Corbel"/>
                <a:cs typeface="Corbel"/>
              </a:rPr>
              <a:t>o</a:t>
            </a:r>
            <a:r>
              <a:rPr spc="20" dirty="0" err="1">
                <a:latin typeface="Corbel"/>
                <a:cs typeface="Corbel"/>
              </a:rPr>
              <a:t>n</a:t>
            </a:r>
            <a:r>
              <a:rPr dirty="0" err="1">
                <a:latin typeface="Corbel"/>
                <a:cs typeface="Corbel"/>
              </a:rPr>
              <a:t>e</a:t>
            </a:r>
            <a:r>
              <a:rPr spc="-130" dirty="0">
                <a:latin typeface="Corbel"/>
                <a:cs typeface="Corbel"/>
              </a:rPr>
              <a:t> </a:t>
            </a:r>
            <a:r>
              <a:rPr spc="30" dirty="0" err="1">
                <a:latin typeface="Corbel"/>
                <a:cs typeface="Corbel"/>
              </a:rPr>
              <a:t>l</a:t>
            </a:r>
            <a:r>
              <a:rPr spc="10" dirty="0" err="1">
                <a:latin typeface="Corbel"/>
                <a:cs typeface="Corbel"/>
              </a:rPr>
              <a:t>o</a:t>
            </a:r>
            <a:r>
              <a:rPr spc="15" dirty="0" err="1">
                <a:latin typeface="Corbel"/>
                <a:cs typeface="Corbel"/>
              </a:rPr>
              <a:t>g</a:t>
            </a:r>
            <a:r>
              <a:rPr spc="30" dirty="0" err="1">
                <a:latin typeface="Corbel"/>
                <a:cs typeface="Corbel"/>
              </a:rPr>
              <a:t>i</a:t>
            </a:r>
            <a:r>
              <a:rPr spc="35" dirty="0" err="1">
                <a:latin typeface="Corbel"/>
                <a:cs typeface="Corbel"/>
              </a:rPr>
              <a:t>c</a:t>
            </a:r>
            <a:r>
              <a:rPr dirty="0" err="1">
                <a:latin typeface="Corbel"/>
                <a:cs typeface="Corbel"/>
              </a:rPr>
              <a:t>a</a:t>
            </a:r>
            <a:endParaRPr lang="it-IT" dirty="0">
              <a:latin typeface="Corbel"/>
              <a:cs typeface="Corbel"/>
            </a:endParaRPr>
          </a:p>
          <a:p>
            <a:pPr marL="755650" marR="35560" lvl="1" indent="-285750">
              <a:lnSpc>
                <a:spcPct val="100800"/>
              </a:lnSpc>
              <a:buFont typeface="Courier New" panose="02070309020205020404" pitchFamily="49" charset="0"/>
              <a:buChar char="o"/>
            </a:pPr>
            <a:r>
              <a:rPr spc="20" dirty="0" err="1">
                <a:latin typeface="Corbel"/>
                <a:cs typeface="Corbel"/>
              </a:rPr>
              <a:t>P</a:t>
            </a:r>
            <a:r>
              <a:rPr dirty="0" err="1">
                <a:latin typeface="Corbel"/>
                <a:cs typeface="Corbel"/>
              </a:rPr>
              <a:t>r</a:t>
            </a:r>
            <a:r>
              <a:rPr spc="10" dirty="0" err="1">
                <a:latin typeface="Corbel"/>
                <a:cs typeface="Corbel"/>
              </a:rPr>
              <a:t>o</a:t>
            </a:r>
            <a:r>
              <a:rPr spc="15" dirty="0" err="1">
                <a:latin typeface="Corbel"/>
                <a:cs typeface="Corbel"/>
              </a:rPr>
              <a:t>g</a:t>
            </a:r>
            <a:r>
              <a:rPr dirty="0" err="1">
                <a:latin typeface="Corbel"/>
                <a:cs typeface="Corbel"/>
              </a:rPr>
              <a:t>e</a:t>
            </a:r>
            <a:r>
              <a:rPr spc="-20" dirty="0" err="1">
                <a:latin typeface="Corbel"/>
                <a:cs typeface="Corbel"/>
              </a:rPr>
              <a:t>t</a:t>
            </a:r>
            <a:r>
              <a:rPr spc="-25" dirty="0" err="1">
                <a:latin typeface="Corbel"/>
                <a:cs typeface="Corbel"/>
              </a:rPr>
              <a:t>t</a:t>
            </a:r>
            <a:r>
              <a:rPr spc="15" dirty="0" err="1">
                <a:latin typeface="Corbel"/>
                <a:cs typeface="Corbel"/>
              </a:rPr>
              <a:t>a</a:t>
            </a:r>
            <a:r>
              <a:rPr spc="20" dirty="0" err="1">
                <a:latin typeface="Corbel"/>
                <a:cs typeface="Corbel"/>
              </a:rPr>
              <a:t>z</a:t>
            </a:r>
            <a:r>
              <a:rPr spc="30" dirty="0" err="1">
                <a:latin typeface="Corbel"/>
                <a:cs typeface="Corbel"/>
              </a:rPr>
              <a:t>i</a:t>
            </a:r>
            <a:r>
              <a:rPr spc="10" dirty="0" err="1">
                <a:latin typeface="Corbel"/>
                <a:cs typeface="Corbel"/>
              </a:rPr>
              <a:t>o</a:t>
            </a:r>
            <a:r>
              <a:rPr spc="20" dirty="0" err="1">
                <a:latin typeface="Corbel"/>
                <a:cs typeface="Corbel"/>
              </a:rPr>
              <a:t>n</a:t>
            </a:r>
            <a:r>
              <a:rPr dirty="0" err="1">
                <a:latin typeface="Corbel"/>
                <a:cs typeface="Corbel"/>
              </a:rPr>
              <a:t>e</a:t>
            </a:r>
            <a:r>
              <a:rPr spc="-130" dirty="0">
                <a:latin typeface="Corbel"/>
                <a:cs typeface="Corbel"/>
              </a:rPr>
              <a:t> </a:t>
            </a:r>
            <a:r>
              <a:rPr spc="25" dirty="0">
                <a:latin typeface="Corbel"/>
                <a:cs typeface="Corbel"/>
              </a:rPr>
              <a:t>f</a:t>
            </a:r>
            <a:r>
              <a:rPr spc="30" dirty="0">
                <a:latin typeface="Corbel"/>
                <a:cs typeface="Corbel"/>
              </a:rPr>
              <a:t>i</a:t>
            </a:r>
            <a:r>
              <a:rPr spc="20" dirty="0">
                <a:latin typeface="Corbel"/>
                <a:cs typeface="Corbel"/>
              </a:rPr>
              <a:t>s</a:t>
            </a:r>
            <a:r>
              <a:rPr spc="30" dirty="0">
                <a:latin typeface="Corbel"/>
                <a:cs typeface="Corbel"/>
              </a:rPr>
              <a:t>i</a:t>
            </a:r>
            <a:r>
              <a:rPr spc="35" dirty="0">
                <a:latin typeface="Corbel"/>
                <a:cs typeface="Corbel"/>
              </a:rPr>
              <a:t>c</a:t>
            </a:r>
            <a:r>
              <a:rPr dirty="0">
                <a:latin typeface="Corbel"/>
                <a:cs typeface="Corbel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137373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B28E9F13-1B7D-DE9E-B3B9-31959BF5957A}"/>
              </a:ext>
            </a:extLst>
          </p:cNvPr>
          <p:cNvSpPr txBox="1">
            <a:spLocks/>
          </p:cNvSpPr>
          <p:nvPr/>
        </p:nvSpPr>
        <p:spPr>
          <a:xfrm>
            <a:off x="404949" y="452755"/>
            <a:ext cx="8321040" cy="533351"/>
          </a:xfrm>
          <a:prstGeom prst="rect">
            <a:avLst/>
          </a:prstGeom>
        </p:spPr>
        <p:txBody>
          <a:bodyPr vert="horz" wrap="square" lIns="0" tIns="7620" rIns="0" bIns="0" rtlCol="0" anchor="t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marR="5080">
              <a:lnSpc>
                <a:spcPct val="101400"/>
              </a:lnSpc>
              <a:spcBef>
                <a:spcPts val="60"/>
              </a:spcBef>
            </a:pPr>
            <a:r>
              <a:rPr lang="it-IT" spc="-25" dirty="0"/>
              <a:t>Requisiti</a:t>
            </a:r>
            <a:r>
              <a:rPr lang="it-IT" spc="229" dirty="0"/>
              <a:t> </a:t>
            </a:r>
            <a:r>
              <a:rPr lang="it-IT" spc="-15" dirty="0"/>
              <a:t>espressi</a:t>
            </a:r>
            <a:r>
              <a:rPr lang="it-IT" spc="229" dirty="0"/>
              <a:t> </a:t>
            </a:r>
            <a:r>
              <a:rPr lang="it-IT" spc="-5" dirty="0"/>
              <a:t>in</a:t>
            </a:r>
            <a:r>
              <a:rPr lang="it-IT" spc="35" dirty="0"/>
              <a:t> </a:t>
            </a:r>
            <a:r>
              <a:rPr lang="it-IT" spc="-5" dirty="0"/>
              <a:t>linguaggio </a:t>
            </a:r>
            <a:r>
              <a:rPr lang="it-IT" spc="-780" dirty="0"/>
              <a:t> </a:t>
            </a:r>
            <a:r>
              <a:rPr lang="it-IT" dirty="0"/>
              <a:t>naturale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0B7074F-989C-2635-F74B-EBACB33FAE1A}"/>
              </a:ext>
            </a:extLst>
          </p:cNvPr>
          <p:cNvSpPr txBox="1"/>
          <p:nvPr/>
        </p:nvSpPr>
        <p:spPr>
          <a:xfrm>
            <a:off x="888509" y="1541280"/>
            <a:ext cx="7060565" cy="455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100"/>
              </a:spcBef>
            </a:pPr>
            <a:r>
              <a:rPr sz="1800" spc="15" dirty="0">
                <a:latin typeface="Corbel"/>
                <a:cs typeface="Corbel"/>
              </a:rPr>
              <a:t>Nella </a:t>
            </a:r>
            <a:r>
              <a:rPr sz="1800" spc="10" dirty="0">
                <a:latin typeface="Corbel"/>
                <a:cs typeface="Corbel"/>
              </a:rPr>
              <a:t>biblioteca </a:t>
            </a:r>
            <a:r>
              <a:rPr sz="1800" dirty="0">
                <a:latin typeface="Corbel"/>
                <a:cs typeface="Corbel"/>
              </a:rPr>
              <a:t>è gestita </a:t>
            </a:r>
            <a:r>
              <a:rPr sz="1800" spc="-5" dirty="0">
                <a:latin typeface="Corbel"/>
                <a:cs typeface="Corbel"/>
              </a:rPr>
              <a:t>una </a:t>
            </a:r>
            <a:r>
              <a:rPr sz="1800" spc="5" dirty="0">
                <a:latin typeface="Corbel"/>
                <a:cs typeface="Corbel"/>
              </a:rPr>
              <a:t>notevole </a:t>
            </a:r>
            <a:r>
              <a:rPr sz="1800" spc="-5" dirty="0">
                <a:latin typeface="Corbel"/>
                <a:cs typeface="Corbel"/>
              </a:rPr>
              <a:t>quantità </a:t>
            </a:r>
            <a:r>
              <a:rPr sz="1800" dirty="0">
                <a:latin typeface="Corbel"/>
                <a:cs typeface="Corbel"/>
              </a:rPr>
              <a:t>di </a:t>
            </a:r>
            <a:r>
              <a:rPr sz="1800" spc="-10" dirty="0">
                <a:latin typeface="Corbel"/>
                <a:cs typeface="Corbel"/>
              </a:rPr>
              <a:t>testi </a:t>
            </a:r>
            <a:r>
              <a:rPr sz="1800" spc="5" dirty="0">
                <a:latin typeface="Corbel"/>
                <a:cs typeface="Corbel"/>
              </a:rPr>
              <a:t>universitari, </a:t>
            </a:r>
            <a:r>
              <a:rPr sz="1800" spc="1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presenti </a:t>
            </a:r>
            <a:r>
              <a:rPr sz="1800" spc="15" dirty="0">
                <a:latin typeface="Corbel"/>
                <a:cs typeface="Corbel"/>
              </a:rPr>
              <a:t>in </a:t>
            </a:r>
            <a:r>
              <a:rPr sz="1800" spc="5" dirty="0">
                <a:latin typeface="Corbel"/>
                <a:cs typeface="Corbel"/>
              </a:rPr>
              <a:t>varie </a:t>
            </a:r>
            <a:r>
              <a:rPr sz="1800" spc="15" dirty="0">
                <a:latin typeface="Corbel"/>
                <a:cs typeface="Corbel"/>
              </a:rPr>
              <a:t>copie in </a:t>
            </a:r>
            <a:r>
              <a:rPr sz="1800" spc="5" dirty="0">
                <a:latin typeface="Corbel"/>
                <a:cs typeface="Corbel"/>
              </a:rPr>
              <a:t>modo </a:t>
            </a:r>
            <a:r>
              <a:rPr sz="1800" dirty="0">
                <a:latin typeface="Corbel"/>
                <a:cs typeface="Corbel"/>
              </a:rPr>
              <a:t>tale </a:t>
            </a:r>
            <a:r>
              <a:rPr sz="1800" spc="10" dirty="0">
                <a:latin typeface="Corbel"/>
                <a:cs typeface="Corbel"/>
              </a:rPr>
              <a:t>che </a:t>
            </a:r>
            <a:r>
              <a:rPr sz="1800" spc="15" dirty="0">
                <a:latin typeface="Corbel"/>
                <a:cs typeface="Corbel"/>
              </a:rPr>
              <a:t>le </a:t>
            </a:r>
            <a:r>
              <a:rPr sz="1800" spc="-5" dirty="0">
                <a:latin typeface="Corbel"/>
                <a:cs typeface="Corbel"/>
              </a:rPr>
              <a:t>utenze </a:t>
            </a:r>
            <a:r>
              <a:rPr sz="1800" spc="5" dirty="0">
                <a:latin typeface="Corbel"/>
                <a:cs typeface="Corbel"/>
              </a:rPr>
              <a:t>universitarie </a:t>
            </a:r>
            <a:r>
              <a:rPr sz="1800" spc="10" dirty="0">
                <a:latin typeface="Corbel"/>
                <a:cs typeface="Corbel"/>
              </a:rPr>
              <a:t>possano </a:t>
            </a:r>
            <a:r>
              <a:rPr sz="1800" spc="15" dirty="0">
                <a:latin typeface="Corbel"/>
                <a:cs typeface="Corbel"/>
              </a:rPr>
              <a:t> </a:t>
            </a:r>
            <a:r>
              <a:rPr sz="1800" spc="-5" dirty="0">
                <a:latin typeface="Corbel"/>
                <a:cs typeface="Corbel"/>
              </a:rPr>
              <a:t>usufruire </a:t>
            </a:r>
            <a:r>
              <a:rPr sz="1800" dirty="0">
                <a:latin typeface="Corbel"/>
                <a:cs typeface="Corbel"/>
              </a:rPr>
              <a:t>di tale </a:t>
            </a:r>
            <a:r>
              <a:rPr sz="1800" spc="10" dirty="0">
                <a:latin typeface="Corbel"/>
                <a:cs typeface="Corbel"/>
              </a:rPr>
              <a:t>servizio. </a:t>
            </a:r>
            <a:r>
              <a:rPr sz="1800" spc="-35" dirty="0">
                <a:latin typeface="Corbel"/>
                <a:cs typeface="Corbel"/>
              </a:rPr>
              <a:t>Tali </a:t>
            </a:r>
            <a:r>
              <a:rPr sz="1800" spc="15" dirty="0">
                <a:latin typeface="Corbel"/>
                <a:cs typeface="Corbel"/>
              </a:rPr>
              <a:t>copie </a:t>
            </a:r>
            <a:r>
              <a:rPr sz="1800" spc="10" dirty="0">
                <a:latin typeface="Corbel"/>
                <a:cs typeface="Corbel"/>
              </a:rPr>
              <a:t>sono dislocate </a:t>
            </a:r>
            <a:r>
              <a:rPr sz="1800" spc="15" dirty="0">
                <a:latin typeface="Corbel"/>
                <a:cs typeface="Corbel"/>
              </a:rPr>
              <a:t>in scaffali </a:t>
            </a:r>
            <a:r>
              <a:rPr sz="1800" spc="-5" dirty="0">
                <a:latin typeface="Corbel"/>
                <a:cs typeface="Corbel"/>
              </a:rPr>
              <a:t>numerati </a:t>
            </a:r>
            <a:r>
              <a:rPr sz="1800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progressivamente, disposti su diversi </a:t>
            </a:r>
            <a:r>
              <a:rPr sz="1800" spc="15" dirty="0">
                <a:latin typeface="Corbel"/>
                <a:cs typeface="Corbel"/>
              </a:rPr>
              <a:t>piani. </a:t>
            </a:r>
            <a:r>
              <a:rPr sz="1800" dirty="0">
                <a:latin typeface="Corbel"/>
                <a:cs typeface="Corbel"/>
              </a:rPr>
              <a:t>I </a:t>
            </a:r>
            <a:r>
              <a:rPr sz="1800" spc="10" dirty="0">
                <a:latin typeface="Corbel"/>
                <a:cs typeface="Corbel"/>
              </a:rPr>
              <a:t>libri sono </a:t>
            </a:r>
            <a:r>
              <a:rPr sz="1800" dirty="0">
                <a:latin typeface="Corbel"/>
                <a:cs typeface="Corbel"/>
              </a:rPr>
              <a:t>caratterizzati da </a:t>
            </a:r>
            <a:r>
              <a:rPr sz="1800" spc="5" dirty="0">
                <a:latin typeface="Corbel"/>
                <a:cs typeface="Corbel"/>
              </a:rPr>
              <a:t> d</a:t>
            </a:r>
            <a:r>
              <a:rPr sz="1800" spc="30" dirty="0">
                <a:latin typeface="Corbel"/>
                <a:cs typeface="Corbel"/>
              </a:rPr>
              <a:t>i</a:t>
            </a:r>
            <a:r>
              <a:rPr sz="1800" spc="-10" dirty="0">
                <a:latin typeface="Corbel"/>
                <a:cs typeface="Corbel"/>
              </a:rPr>
              <a:t>v</a:t>
            </a:r>
            <a:r>
              <a:rPr sz="1800" dirty="0">
                <a:latin typeface="Corbel"/>
                <a:cs typeface="Corbel"/>
              </a:rPr>
              <a:t>er</a:t>
            </a:r>
            <a:r>
              <a:rPr sz="1800" spc="15" dirty="0">
                <a:latin typeface="Corbel"/>
                <a:cs typeface="Corbel"/>
              </a:rPr>
              <a:t>s</a:t>
            </a:r>
            <a:r>
              <a:rPr sz="1800" dirty="0">
                <a:latin typeface="Corbel"/>
                <a:cs typeface="Corbel"/>
              </a:rPr>
              <a:t>e</a:t>
            </a:r>
            <a:r>
              <a:rPr sz="1800" spc="-60" dirty="0">
                <a:latin typeface="Corbel"/>
                <a:cs typeface="Corbel"/>
              </a:rPr>
              <a:t> </a:t>
            </a:r>
            <a:r>
              <a:rPr sz="1800" spc="30" dirty="0">
                <a:latin typeface="Corbel"/>
                <a:cs typeface="Corbel"/>
              </a:rPr>
              <a:t>i</a:t>
            </a:r>
            <a:r>
              <a:rPr sz="1800" spc="20" dirty="0">
                <a:latin typeface="Corbel"/>
                <a:cs typeface="Corbel"/>
              </a:rPr>
              <a:t>n</a:t>
            </a:r>
            <a:r>
              <a:rPr sz="1800" spc="25" dirty="0">
                <a:latin typeface="Corbel"/>
                <a:cs typeface="Corbel"/>
              </a:rPr>
              <a:t>f</a:t>
            </a:r>
            <a:r>
              <a:rPr sz="1800" spc="10" dirty="0">
                <a:latin typeface="Corbel"/>
                <a:cs typeface="Corbel"/>
              </a:rPr>
              <a:t>o</a:t>
            </a:r>
            <a:r>
              <a:rPr sz="1800" dirty="0">
                <a:latin typeface="Corbel"/>
                <a:cs typeface="Corbel"/>
              </a:rPr>
              <a:t>rm</a:t>
            </a:r>
            <a:r>
              <a:rPr sz="1800" spc="15" dirty="0">
                <a:latin typeface="Corbel"/>
                <a:cs typeface="Corbel"/>
              </a:rPr>
              <a:t>a</a:t>
            </a:r>
            <a:r>
              <a:rPr sz="1800" spc="20" dirty="0">
                <a:latin typeface="Corbel"/>
                <a:cs typeface="Corbel"/>
              </a:rPr>
              <a:t>z</a:t>
            </a:r>
            <a:r>
              <a:rPr sz="1800" spc="30" dirty="0">
                <a:latin typeface="Corbel"/>
                <a:cs typeface="Corbel"/>
              </a:rPr>
              <a:t>i</a:t>
            </a:r>
            <a:r>
              <a:rPr sz="1800" spc="10" dirty="0">
                <a:latin typeface="Corbel"/>
                <a:cs typeface="Corbel"/>
              </a:rPr>
              <a:t>o</a:t>
            </a:r>
            <a:r>
              <a:rPr sz="1800" spc="20" dirty="0">
                <a:latin typeface="Corbel"/>
                <a:cs typeface="Corbel"/>
              </a:rPr>
              <a:t>n</a:t>
            </a:r>
            <a:r>
              <a:rPr sz="1800" spc="-45" dirty="0">
                <a:latin typeface="Corbel"/>
                <a:cs typeface="Corbel"/>
              </a:rPr>
              <a:t>i</a:t>
            </a:r>
            <a:r>
              <a:rPr sz="1800" dirty="0">
                <a:latin typeface="Corbel"/>
                <a:cs typeface="Corbel"/>
              </a:rPr>
              <a:t>,</a:t>
            </a:r>
            <a:r>
              <a:rPr sz="1800" spc="-160" dirty="0">
                <a:latin typeface="Corbel"/>
                <a:cs typeface="Corbel"/>
              </a:rPr>
              <a:t> </a:t>
            </a:r>
            <a:r>
              <a:rPr sz="1800" spc="30" dirty="0">
                <a:latin typeface="Corbel"/>
                <a:cs typeface="Corbel"/>
              </a:rPr>
              <a:t>c</a:t>
            </a:r>
            <a:r>
              <a:rPr sz="1800" spc="10" dirty="0">
                <a:latin typeface="Corbel"/>
                <a:cs typeface="Corbel"/>
              </a:rPr>
              <a:t>o</a:t>
            </a:r>
            <a:r>
              <a:rPr sz="1800" dirty="0">
                <a:latin typeface="Corbel"/>
                <a:cs typeface="Corbel"/>
              </a:rPr>
              <a:t>me</a:t>
            </a:r>
            <a:r>
              <a:rPr sz="1800" spc="-60" dirty="0">
                <a:latin typeface="Corbel"/>
                <a:cs typeface="Corbel"/>
              </a:rPr>
              <a:t> </a:t>
            </a:r>
            <a:r>
              <a:rPr sz="1800" spc="30" dirty="0">
                <a:latin typeface="Corbel"/>
                <a:cs typeface="Corbel"/>
              </a:rPr>
              <a:t>i</a:t>
            </a:r>
            <a:r>
              <a:rPr sz="1800" dirty="0">
                <a:latin typeface="Corbel"/>
                <a:cs typeface="Corbel"/>
              </a:rPr>
              <a:t>l</a:t>
            </a:r>
            <a:r>
              <a:rPr sz="1800" spc="-105" dirty="0">
                <a:latin typeface="Corbel"/>
                <a:cs typeface="Corbel"/>
              </a:rPr>
              <a:t> </a:t>
            </a:r>
            <a:r>
              <a:rPr sz="1800" spc="30" dirty="0">
                <a:latin typeface="Corbel"/>
                <a:cs typeface="Corbel"/>
              </a:rPr>
              <a:t>c</a:t>
            </a:r>
            <a:r>
              <a:rPr sz="1800" spc="10" dirty="0">
                <a:latin typeface="Corbel"/>
                <a:cs typeface="Corbel"/>
              </a:rPr>
              <a:t>o</a:t>
            </a:r>
            <a:r>
              <a:rPr sz="1800" spc="5" dirty="0">
                <a:latin typeface="Corbel"/>
                <a:cs typeface="Corbel"/>
              </a:rPr>
              <a:t>d</a:t>
            </a:r>
            <a:r>
              <a:rPr sz="1800" spc="30" dirty="0">
                <a:latin typeface="Corbel"/>
                <a:cs typeface="Corbel"/>
              </a:rPr>
              <a:t>ic</a:t>
            </a:r>
            <a:r>
              <a:rPr sz="1800" dirty="0">
                <a:latin typeface="Corbel"/>
                <a:cs typeface="Corbel"/>
              </a:rPr>
              <a:t>e</a:t>
            </a:r>
            <a:r>
              <a:rPr sz="1800" spc="-135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I</a:t>
            </a:r>
            <a:r>
              <a:rPr sz="1800" spc="-20" dirty="0">
                <a:latin typeface="Corbel"/>
                <a:cs typeface="Corbel"/>
              </a:rPr>
              <a:t>SB</a:t>
            </a:r>
            <a:r>
              <a:rPr sz="1800" spc="15" dirty="0">
                <a:latin typeface="Corbel"/>
                <a:cs typeface="Corbel"/>
              </a:rPr>
              <a:t>N</a:t>
            </a:r>
            <a:r>
              <a:rPr sz="1800" dirty="0">
                <a:latin typeface="Corbel"/>
                <a:cs typeface="Corbel"/>
              </a:rPr>
              <a:t>,</a:t>
            </a:r>
            <a:r>
              <a:rPr sz="1800" spc="-15" dirty="0">
                <a:latin typeface="Corbel"/>
                <a:cs typeface="Corbel"/>
              </a:rPr>
              <a:t> </a:t>
            </a:r>
            <a:r>
              <a:rPr sz="1800" spc="-35" dirty="0">
                <a:latin typeface="Corbel"/>
                <a:cs typeface="Corbel"/>
              </a:rPr>
              <a:t>u</a:t>
            </a:r>
            <a:r>
              <a:rPr sz="1800" spc="-30" dirty="0">
                <a:latin typeface="Corbel"/>
                <a:cs typeface="Corbel"/>
              </a:rPr>
              <a:t>t</a:t>
            </a:r>
            <a:r>
              <a:rPr sz="1800" spc="30" dirty="0">
                <a:latin typeface="Corbel"/>
                <a:cs typeface="Corbel"/>
              </a:rPr>
              <a:t>ili</a:t>
            </a:r>
            <a:r>
              <a:rPr sz="1800" spc="20" dirty="0">
                <a:latin typeface="Corbel"/>
                <a:cs typeface="Corbel"/>
              </a:rPr>
              <a:t>zz</a:t>
            </a:r>
            <a:r>
              <a:rPr sz="1800" spc="10" dirty="0">
                <a:latin typeface="Corbel"/>
                <a:cs typeface="Corbel"/>
              </a:rPr>
              <a:t>a</a:t>
            </a:r>
            <a:r>
              <a:rPr sz="1800" spc="-30" dirty="0">
                <a:latin typeface="Corbel"/>
                <a:cs typeface="Corbel"/>
              </a:rPr>
              <a:t>t</a:t>
            </a:r>
            <a:r>
              <a:rPr sz="1800" dirty="0">
                <a:latin typeface="Corbel"/>
                <a:cs typeface="Corbel"/>
              </a:rPr>
              <a:t>o</a:t>
            </a:r>
            <a:r>
              <a:rPr sz="1800" spc="-50" dirty="0">
                <a:latin typeface="Corbel"/>
                <a:cs typeface="Corbel"/>
              </a:rPr>
              <a:t> </a:t>
            </a:r>
            <a:r>
              <a:rPr sz="1800" spc="30" dirty="0">
                <a:latin typeface="Corbel"/>
                <a:cs typeface="Corbel"/>
              </a:rPr>
              <a:t>c</a:t>
            </a:r>
            <a:r>
              <a:rPr sz="1800" spc="10" dirty="0">
                <a:latin typeface="Corbel"/>
                <a:cs typeface="Corbel"/>
              </a:rPr>
              <a:t>o</a:t>
            </a:r>
            <a:r>
              <a:rPr sz="1800" dirty="0">
                <a:latin typeface="Corbel"/>
                <a:cs typeface="Corbel"/>
              </a:rPr>
              <a:t>me</a:t>
            </a:r>
            <a:r>
              <a:rPr sz="1800" spc="-60" dirty="0">
                <a:latin typeface="Corbel"/>
                <a:cs typeface="Corbel"/>
              </a:rPr>
              <a:t> </a:t>
            </a:r>
            <a:r>
              <a:rPr sz="1800" spc="30" dirty="0">
                <a:latin typeface="Corbel"/>
                <a:cs typeface="Corbel"/>
              </a:rPr>
              <a:t>i</a:t>
            </a:r>
            <a:r>
              <a:rPr sz="1800" spc="5" dirty="0">
                <a:latin typeface="Corbel"/>
                <a:cs typeface="Corbel"/>
              </a:rPr>
              <a:t>d</a:t>
            </a:r>
            <a:r>
              <a:rPr sz="1800" dirty="0">
                <a:latin typeface="Corbel"/>
                <a:cs typeface="Corbel"/>
              </a:rPr>
              <a:t>e</a:t>
            </a:r>
            <a:r>
              <a:rPr sz="1800" spc="25" dirty="0">
                <a:latin typeface="Corbel"/>
                <a:cs typeface="Corbel"/>
              </a:rPr>
              <a:t>n</a:t>
            </a:r>
            <a:r>
              <a:rPr sz="1800" spc="-30" dirty="0">
                <a:latin typeface="Corbel"/>
                <a:cs typeface="Corbel"/>
              </a:rPr>
              <a:t>t</a:t>
            </a:r>
            <a:r>
              <a:rPr sz="1800" spc="30" dirty="0">
                <a:latin typeface="Corbel"/>
                <a:cs typeface="Corbel"/>
              </a:rPr>
              <a:t>i</a:t>
            </a:r>
            <a:r>
              <a:rPr sz="1800" spc="25" dirty="0">
                <a:latin typeface="Corbel"/>
                <a:cs typeface="Corbel"/>
              </a:rPr>
              <a:t>f</a:t>
            </a:r>
            <a:r>
              <a:rPr sz="1800" spc="30" dirty="0">
                <a:latin typeface="Corbel"/>
                <a:cs typeface="Corbel"/>
              </a:rPr>
              <a:t>ic</a:t>
            </a:r>
            <a:r>
              <a:rPr sz="1800" spc="10" dirty="0">
                <a:latin typeface="Corbel"/>
                <a:cs typeface="Corbel"/>
              </a:rPr>
              <a:t>a</a:t>
            </a:r>
            <a:r>
              <a:rPr sz="1800" spc="-30" dirty="0">
                <a:latin typeface="Corbel"/>
                <a:cs typeface="Corbel"/>
              </a:rPr>
              <a:t>t</a:t>
            </a:r>
            <a:r>
              <a:rPr sz="1800" spc="10" dirty="0">
                <a:latin typeface="Corbel"/>
                <a:cs typeface="Corbel"/>
              </a:rPr>
              <a:t>o</a:t>
            </a:r>
            <a:r>
              <a:rPr sz="1800" dirty="0">
                <a:latin typeface="Corbel"/>
                <a:cs typeface="Corbel"/>
              </a:rPr>
              <a:t>re,</a:t>
            </a:r>
            <a:r>
              <a:rPr sz="1800" spc="-165" dirty="0">
                <a:latin typeface="Corbel"/>
                <a:cs typeface="Corbel"/>
              </a:rPr>
              <a:t> </a:t>
            </a:r>
            <a:r>
              <a:rPr sz="1800" spc="30" dirty="0">
                <a:latin typeface="Corbel"/>
                <a:cs typeface="Corbel"/>
              </a:rPr>
              <a:t>i</a:t>
            </a:r>
            <a:r>
              <a:rPr sz="1800" dirty="0">
                <a:latin typeface="Corbel"/>
                <a:cs typeface="Corbel"/>
              </a:rPr>
              <a:t>l  titolo, </a:t>
            </a:r>
            <a:r>
              <a:rPr sz="1800" spc="-15" dirty="0">
                <a:latin typeface="Corbel"/>
                <a:cs typeface="Corbel"/>
              </a:rPr>
              <a:t>l’autore, </a:t>
            </a:r>
            <a:r>
              <a:rPr sz="1800" spc="15" dirty="0">
                <a:latin typeface="Corbel"/>
                <a:cs typeface="Corbel"/>
              </a:rPr>
              <a:t>il </a:t>
            </a:r>
            <a:r>
              <a:rPr sz="1800" spc="5" dirty="0">
                <a:latin typeface="Corbel"/>
                <a:cs typeface="Corbel"/>
              </a:rPr>
              <a:t>genere </a:t>
            </a:r>
            <a:r>
              <a:rPr sz="1800" dirty="0">
                <a:latin typeface="Corbel"/>
                <a:cs typeface="Corbel"/>
              </a:rPr>
              <a:t>e </a:t>
            </a:r>
            <a:r>
              <a:rPr sz="1800" spc="15" dirty="0">
                <a:latin typeface="Corbel"/>
                <a:cs typeface="Corbel"/>
              </a:rPr>
              <a:t>la </a:t>
            </a:r>
            <a:r>
              <a:rPr sz="1800" spc="10" dirty="0">
                <a:latin typeface="Corbel"/>
                <a:cs typeface="Corbel"/>
              </a:rPr>
              <a:t>casa </a:t>
            </a:r>
            <a:r>
              <a:rPr sz="1800" spc="5" dirty="0">
                <a:latin typeface="Corbel"/>
                <a:cs typeface="Corbel"/>
              </a:rPr>
              <a:t>editrice. </a:t>
            </a:r>
            <a:r>
              <a:rPr sz="1800" spc="-20" dirty="0">
                <a:latin typeface="Corbel"/>
                <a:cs typeface="Corbel"/>
              </a:rPr>
              <a:t>Per </a:t>
            </a:r>
            <a:r>
              <a:rPr sz="1800" spc="10" dirty="0">
                <a:latin typeface="Corbel"/>
                <a:cs typeface="Corbel"/>
              </a:rPr>
              <a:t>ogni </a:t>
            </a:r>
            <a:r>
              <a:rPr sz="1800" spc="-10" dirty="0">
                <a:latin typeface="Corbel"/>
                <a:cs typeface="Corbel"/>
              </a:rPr>
              <a:t>autore, </a:t>
            </a:r>
            <a:r>
              <a:rPr sz="1800" spc="10" dirty="0">
                <a:latin typeface="Corbel"/>
                <a:cs typeface="Corbel"/>
              </a:rPr>
              <a:t>bisogna </a:t>
            </a:r>
            <a:r>
              <a:rPr sz="1800" dirty="0">
                <a:latin typeface="Corbel"/>
                <a:cs typeface="Corbel"/>
              </a:rPr>
              <a:t>tenere </a:t>
            </a:r>
            <a:r>
              <a:rPr sz="1800" spc="5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traccia</a:t>
            </a:r>
            <a:r>
              <a:rPr sz="1800" spc="-125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delle</a:t>
            </a:r>
            <a:r>
              <a:rPr sz="1800" spc="-55" dirty="0">
                <a:latin typeface="Corbel"/>
                <a:cs typeface="Corbel"/>
              </a:rPr>
              <a:t> </a:t>
            </a:r>
            <a:r>
              <a:rPr sz="1800" spc="15" dirty="0">
                <a:latin typeface="Corbel"/>
                <a:cs typeface="Corbel"/>
              </a:rPr>
              <a:t>informazioni</a:t>
            </a:r>
            <a:r>
              <a:rPr sz="1800" spc="-18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relative</a:t>
            </a:r>
            <a:r>
              <a:rPr sz="1800" spc="-13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a</a:t>
            </a:r>
            <a:r>
              <a:rPr sz="1800" spc="30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nome,</a:t>
            </a:r>
            <a:r>
              <a:rPr sz="1800" spc="-80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cognome,</a:t>
            </a:r>
            <a:r>
              <a:rPr sz="1800" spc="-85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sesso,</a:t>
            </a:r>
            <a:r>
              <a:rPr sz="1800" spc="-85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luogo</a:t>
            </a:r>
            <a:r>
              <a:rPr sz="1800" spc="-5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e</a:t>
            </a:r>
            <a:r>
              <a:rPr sz="1800" spc="20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anno</a:t>
            </a:r>
            <a:r>
              <a:rPr sz="1800" spc="-4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di </a:t>
            </a:r>
            <a:r>
              <a:rPr sz="1800" spc="-350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nascita, </a:t>
            </a:r>
            <a:r>
              <a:rPr sz="1800" spc="-5" dirty="0">
                <a:latin typeface="Corbel"/>
                <a:cs typeface="Corbel"/>
              </a:rPr>
              <a:t>usufruendo </a:t>
            </a:r>
            <a:r>
              <a:rPr sz="1800" spc="5" dirty="0">
                <a:latin typeface="Corbel"/>
                <a:cs typeface="Corbel"/>
              </a:rPr>
              <a:t>al contempo </a:t>
            </a:r>
            <a:r>
              <a:rPr sz="1800" dirty="0">
                <a:latin typeface="Corbel"/>
                <a:cs typeface="Corbel"/>
              </a:rPr>
              <a:t>di </a:t>
            </a:r>
            <a:r>
              <a:rPr sz="1800" spc="-20" dirty="0">
                <a:latin typeface="Corbel"/>
                <a:cs typeface="Corbel"/>
              </a:rPr>
              <a:t>un </a:t>
            </a:r>
            <a:r>
              <a:rPr sz="1800" spc="15" dirty="0">
                <a:latin typeface="Corbel"/>
                <a:cs typeface="Corbel"/>
              </a:rPr>
              <a:t>codice </a:t>
            </a:r>
            <a:r>
              <a:rPr sz="1800" spc="5" dirty="0">
                <a:latin typeface="Corbel"/>
                <a:cs typeface="Corbel"/>
              </a:rPr>
              <a:t>per </a:t>
            </a:r>
            <a:r>
              <a:rPr sz="1800" spc="10" dirty="0">
                <a:latin typeface="Corbel"/>
                <a:cs typeface="Corbel"/>
              </a:rPr>
              <a:t>l’identificazione </a:t>
            </a:r>
            <a:r>
              <a:rPr sz="1800" dirty="0">
                <a:latin typeface="Corbel"/>
                <a:cs typeface="Corbel"/>
              </a:rPr>
              <a:t>dei vari </a:t>
            </a:r>
            <a:r>
              <a:rPr sz="1800" spc="5" dirty="0">
                <a:latin typeface="Corbel"/>
                <a:cs typeface="Corbel"/>
              </a:rPr>
              <a:t> </a:t>
            </a:r>
            <a:r>
              <a:rPr sz="1800" spc="-5" dirty="0">
                <a:latin typeface="Corbel"/>
                <a:cs typeface="Corbel"/>
              </a:rPr>
              <a:t>autori. </a:t>
            </a:r>
            <a:r>
              <a:rPr sz="1800" spc="-20" dirty="0">
                <a:latin typeface="Corbel"/>
                <a:cs typeface="Corbel"/>
              </a:rPr>
              <a:t>Per </a:t>
            </a:r>
            <a:r>
              <a:rPr sz="1800" spc="10" dirty="0">
                <a:latin typeface="Corbel"/>
                <a:cs typeface="Corbel"/>
              </a:rPr>
              <a:t>ogni </a:t>
            </a:r>
            <a:r>
              <a:rPr sz="1800" spc="5" dirty="0">
                <a:latin typeface="Corbel"/>
                <a:cs typeface="Corbel"/>
              </a:rPr>
              <a:t>genere </a:t>
            </a:r>
            <a:r>
              <a:rPr sz="1800" dirty="0">
                <a:latin typeface="Corbel"/>
                <a:cs typeface="Corbel"/>
              </a:rPr>
              <a:t>letterario è </a:t>
            </a:r>
            <a:r>
              <a:rPr sz="1800" spc="5" dirty="0">
                <a:latin typeface="Corbel"/>
                <a:cs typeface="Corbel"/>
              </a:rPr>
              <a:t>fornito </a:t>
            </a:r>
            <a:r>
              <a:rPr sz="1800" spc="-20" dirty="0">
                <a:latin typeface="Corbel"/>
                <a:cs typeface="Corbel"/>
              </a:rPr>
              <a:t>un </a:t>
            </a:r>
            <a:r>
              <a:rPr sz="1800" spc="5" dirty="0">
                <a:latin typeface="Corbel"/>
                <a:cs typeface="Corbel"/>
              </a:rPr>
              <a:t>nome, utilizzato </a:t>
            </a:r>
            <a:r>
              <a:rPr sz="1800" spc="10" dirty="0">
                <a:latin typeface="Corbel"/>
                <a:cs typeface="Corbel"/>
              </a:rPr>
              <a:t>come </a:t>
            </a:r>
            <a:r>
              <a:rPr sz="1800" spc="15" dirty="0">
                <a:latin typeface="Corbel"/>
                <a:cs typeface="Corbel"/>
              </a:rPr>
              <a:t> </a:t>
            </a:r>
            <a:r>
              <a:rPr sz="1800" spc="30" dirty="0">
                <a:latin typeface="Corbel"/>
                <a:cs typeface="Corbel"/>
              </a:rPr>
              <a:t>i</a:t>
            </a:r>
            <a:r>
              <a:rPr sz="1800" spc="5" dirty="0">
                <a:latin typeface="Corbel"/>
                <a:cs typeface="Corbel"/>
              </a:rPr>
              <a:t>d</a:t>
            </a:r>
            <a:r>
              <a:rPr sz="1800" dirty="0">
                <a:latin typeface="Corbel"/>
                <a:cs typeface="Corbel"/>
              </a:rPr>
              <a:t>e</a:t>
            </a:r>
            <a:r>
              <a:rPr sz="1800" spc="25" dirty="0">
                <a:latin typeface="Corbel"/>
                <a:cs typeface="Corbel"/>
              </a:rPr>
              <a:t>n</a:t>
            </a:r>
            <a:r>
              <a:rPr sz="1800" spc="-30" dirty="0">
                <a:latin typeface="Corbel"/>
                <a:cs typeface="Corbel"/>
              </a:rPr>
              <a:t>t</a:t>
            </a:r>
            <a:r>
              <a:rPr sz="1800" spc="30" dirty="0">
                <a:latin typeface="Corbel"/>
                <a:cs typeface="Corbel"/>
              </a:rPr>
              <a:t>i</a:t>
            </a:r>
            <a:r>
              <a:rPr sz="1800" spc="25" dirty="0">
                <a:latin typeface="Corbel"/>
                <a:cs typeface="Corbel"/>
              </a:rPr>
              <a:t>f</a:t>
            </a:r>
            <a:r>
              <a:rPr sz="1800" spc="30" dirty="0">
                <a:latin typeface="Corbel"/>
                <a:cs typeface="Corbel"/>
              </a:rPr>
              <a:t>ic</a:t>
            </a:r>
            <a:r>
              <a:rPr sz="1800" spc="10" dirty="0">
                <a:latin typeface="Corbel"/>
                <a:cs typeface="Corbel"/>
              </a:rPr>
              <a:t>a</a:t>
            </a:r>
            <a:r>
              <a:rPr sz="1800" spc="-30" dirty="0">
                <a:latin typeface="Corbel"/>
                <a:cs typeface="Corbel"/>
              </a:rPr>
              <a:t>t</a:t>
            </a:r>
            <a:r>
              <a:rPr sz="1800" spc="10" dirty="0">
                <a:latin typeface="Corbel"/>
                <a:cs typeface="Corbel"/>
              </a:rPr>
              <a:t>o</a:t>
            </a:r>
            <a:r>
              <a:rPr sz="1800" dirty="0">
                <a:latin typeface="Corbel"/>
                <a:cs typeface="Corbel"/>
              </a:rPr>
              <a:t>re,</a:t>
            </a:r>
            <a:r>
              <a:rPr sz="1800" spc="-16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e</a:t>
            </a:r>
            <a:r>
              <a:rPr sz="1800" spc="-60" dirty="0">
                <a:latin typeface="Corbel"/>
                <a:cs typeface="Corbel"/>
              </a:rPr>
              <a:t> </a:t>
            </a:r>
            <a:r>
              <a:rPr sz="1800" spc="-35" dirty="0">
                <a:latin typeface="Corbel"/>
                <a:cs typeface="Corbel"/>
              </a:rPr>
              <a:t>u</a:t>
            </a:r>
            <a:r>
              <a:rPr sz="1800" spc="20" dirty="0">
                <a:latin typeface="Corbel"/>
                <a:cs typeface="Corbel"/>
              </a:rPr>
              <a:t>n</a:t>
            </a:r>
            <a:r>
              <a:rPr sz="1800" dirty="0">
                <a:latin typeface="Corbel"/>
                <a:cs typeface="Corbel"/>
              </a:rPr>
              <a:t>a</a:t>
            </a:r>
            <a:r>
              <a:rPr sz="1800" spc="25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b</a:t>
            </a:r>
            <a:r>
              <a:rPr sz="1800" dirty="0">
                <a:latin typeface="Corbel"/>
                <a:cs typeface="Corbel"/>
              </a:rPr>
              <a:t>re</a:t>
            </a:r>
            <a:r>
              <a:rPr sz="1800" spc="-10" dirty="0">
                <a:latin typeface="Corbel"/>
                <a:cs typeface="Corbel"/>
              </a:rPr>
              <a:t>v</a:t>
            </a:r>
            <a:r>
              <a:rPr sz="1800" dirty="0">
                <a:latin typeface="Corbel"/>
                <a:cs typeface="Corbel"/>
              </a:rPr>
              <a:t>e</a:t>
            </a:r>
            <a:r>
              <a:rPr sz="1800" spc="15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d</a:t>
            </a:r>
            <a:r>
              <a:rPr sz="1800" dirty="0">
                <a:latin typeface="Corbel"/>
                <a:cs typeface="Corbel"/>
              </a:rPr>
              <a:t>e</a:t>
            </a:r>
            <a:r>
              <a:rPr sz="1800" spc="20" dirty="0">
                <a:latin typeface="Corbel"/>
                <a:cs typeface="Corbel"/>
              </a:rPr>
              <a:t>s</a:t>
            </a:r>
            <a:r>
              <a:rPr sz="1800" spc="30" dirty="0">
                <a:latin typeface="Corbel"/>
                <a:cs typeface="Corbel"/>
              </a:rPr>
              <a:t>c</a:t>
            </a:r>
            <a:r>
              <a:rPr sz="1800" dirty="0">
                <a:latin typeface="Corbel"/>
                <a:cs typeface="Corbel"/>
              </a:rPr>
              <a:t>r</a:t>
            </a:r>
            <a:r>
              <a:rPr sz="1800" spc="25" dirty="0">
                <a:latin typeface="Corbel"/>
                <a:cs typeface="Corbel"/>
              </a:rPr>
              <a:t>i</a:t>
            </a:r>
            <a:r>
              <a:rPr sz="1800" spc="20" dirty="0">
                <a:latin typeface="Corbel"/>
                <a:cs typeface="Corbel"/>
              </a:rPr>
              <a:t>z</a:t>
            </a:r>
            <a:r>
              <a:rPr sz="1800" spc="30" dirty="0">
                <a:latin typeface="Corbel"/>
                <a:cs typeface="Corbel"/>
              </a:rPr>
              <a:t>i</a:t>
            </a:r>
            <a:r>
              <a:rPr sz="1800" spc="10" dirty="0">
                <a:latin typeface="Corbel"/>
                <a:cs typeface="Corbel"/>
              </a:rPr>
              <a:t>o</a:t>
            </a:r>
            <a:r>
              <a:rPr sz="1800" spc="20" dirty="0">
                <a:latin typeface="Corbel"/>
                <a:cs typeface="Corbel"/>
              </a:rPr>
              <a:t>n</a:t>
            </a:r>
            <a:r>
              <a:rPr sz="1800" dirty="0">
                <a:latin typeface="Corbel"/>
                <a:cs typeface="Corbel"/>
              </a:rPr>
              <a:t>e</a:t>
            </a:r>
            <a:r>
              <a:rPr sz="1800" spc="-13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re</a:t>
            </a:r>
            <a:r>
              <a:rPr sz="1800" spc="25" dirty="0">
                <a:latin typeface="Corbel"/>
                <a:cs typeface="Corbel"/>
              </a:rPr>
              <a:t>l</a:t>
            </a:r>
            <a:r>
              <a:rPr sz="1800" spc="10" dirty="0">
                <a:latin typeface="Corbel"/>
                <a:cs typeface="Corbel"/>
              </a:rPr>
              <a:t>a</a:t>
            </a:r>
            <a:r>
              <a:rPr sz="1800" spc="-30" dirty="0">
                <a:latin typeface="Corbel"/>
                <a:cs typeface="Corbel"/>
              </a:rPr>
              <a:t>t</a:t>
            </a:r>
            <a:r>
              <a:rPr sz="1800" spc="30" dirty="0">
                <a:latin typeface="Corbel"/>
                <a:cs typeface="Corbel"/>
              </a:rPr>
              <a:t>i</a:t>
            </a:r>
            <a:r>
              <a:rPr sz="1800" spc="-10" dirty="0">
                <a:latin typeface="Corbel"/>
                <a:cs typeface="Corbel"/>
              </a:rPr>
              <a:t>v</a:t>
            </a:r>
            <a:r>
              <a:rPr sz="1800" dirty="0">
                <a:latin typeface="Corbel"/>
                <a:cs typeface="Corbel"/>
              </a:rPr>
              <a:t>a</a:t>
            </a:r>
            <a:r>
              <a:rPr sz="1800" spc="-12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a</a:t>
            </a:r>
            <a:r>
              <a:rPr sz="1800" spc="25" dirty="0">
                <a:latin typeface="Corbel"/>
                <a:cs typeface="Corbel"/>
              </a:rPr>
              <a:t> </a:t>
            </a:r>
            <a:r>
              <a:rPr sz="1800" spc="-30" dirty="0">
                <a:latin typeface="Corbel"/>
                <a:cs typeface="Corbel"/>
              </a:rPr>
              <a:t>t</a:t>
            </a:r>
            <a:r>
              <a:rPr sz="1800" spc="10" dirty="0">
                <a:latin typeface="Corbel"/>
                <a:cs typeface="Corbel"/>
              </a:rPr>
              <a:t>a</a:t>
            </a:r>
            <a:r>
              <a:rPr sz="1800" spc="30" dirty="0">
                <a:latin typeface="Corbel"/>
                <a:cs typeface="Corbel"/>
              </a:rPr>
              <a:t>l</a:t>
            </a:r>
            <a:r>
              <a:rPr sz="1800" dirty="0">
                <a:latin typeface="Corbel"/>
                <a:cs typeface="Corbel"/>
              </a:rPr>
              <a:t>e</a:t>
            </a:r>
            <a:r>
              <a:rPr sz="1800" spc="-60" dirty="0">
                <a:latin typeface="Corbel"/>
                <a:cs typeface="Corbel"/>
              </a:rPr>
              <a:t> </a:t>
            </a:r>
            <a:r>
              <a:rPr sz="1800" spc="15" dirty="0">
                <a:latin typeface="Corbel"/>
                <a:cs typeface="Corbel"/>
              </a:rPr>
              <a:t>g</a:t>
            </a:r>
            <a:r>
              <a:rPr sz="1800" dirty="0">
                <a:latin typeface="Corbel"/>
                <a:cs typeface="Corbel"/>
              </a:rPr>
              <a:t>e</a:t>
            </a:r>
            <a:r>
              <a:rPr sz="1800" spc="25" dirty="0">
                <a:latin typeface="Corbel"/>
                <a:cs typeface="Corbel"/>
              </a:rPr>
              <a:t>n</a:t>
            </a:r>
            <a:r>
              <a:rPr sz="1800" dirty="0">
                <a:latin typeface="Corbel"/>
                <a:cs typeface="Corbel"/>
              </a:rPr>
              <a:t>ere.</a:t>
            </a:r>
            <a:r>
              <a:rPr sz="1800" spc="-15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I</a:t>
            </a:r>
            <a:r>
              <a:rPr sz="1800" spc="20" dirty="0">
                <a:latin typeface="Corbel"/>
                <a:cs typeface="Corbel"/>
              </a:rPr>
              <a:t>n</a:t>
            </a:r>
            <a:r>
              <a:rPr sz="1800" spc="25" dirty="0">
                <a:latin typeface="Corbel"/>
                <a:cs typeface="Corbel"/>
              </a:rPr>
              <a:t>f</a:t>
            </a:r>
            <a:r>
              <a:rPr sz="1800" spc="30" dirty="0">
                <a:latin typeface="Corbel"/>
                <a:cs typeface="Corbel"/>
              </a:rPr>
              <a:t>i</a:t>
            </a:r>
            <a:r>
              <a:rPr sz="1800" spc="20" dirty="0">
                <a:latin typeface="Corbel"/>
                <a:cs typeface="Corbel"/>
              </a:rPr>
              <a:t>n</a:t>
            </a:r>
            <a:r>
              <a:rPr sz="1800" dirty="0">
                <a:latin typeface="Corbel"/>
                <a:cs typeface="Corbel"/>
              </a:rPr>
              <a:t>e,</a:t>
            </a:r>
            <a:r>
              <a:rPr sz="1800" spc="-160" dirty="0">
                <a:latin typeface="Corbel"/>
                <a:cs typeface="Corbel"/>
              </a:rPr>
              <a:t> </a:t>
            </a:r>
            <a:r>
              <a:rPr sz="1800" spc="15" dirty="0">
                <a:latin typeface="Corbel"/>
                <a:cs typeface="Corbel"/>
              </a:rPr>
              <a:t>p</a:t>
            </a:r>
            <a:r>
              <a:rPr sz="1800" dirty="0">
                <a:latin typeface="Corbel"/>
                <a:cs typeface="Corbel"/>
              </a:rPr>
              <a:t>er</a:t>
            </a:r>
            <a:r>
              <a:rPr sz="1800" spc="10" dirty="0">
                <a:latin typeface="Corbel"/>
                <a:cs typeface="Corbel"/>
              </a:rPr>
              <a:t> </a:t>
            </a:r>
            <a:r>
              <a:rPr sz="1800" spc="30" dirty="0">
                <a:latin typeface="Corbel"/>
                <a:cs typeface="Corbel"/>
              </a:rPr>
              <a:t>l</a:t>
            </a:r>
            <a:r>
              <a:rPr sz="1800" dirty="0">
                <a:latin typeface="Corbel"/>
                <a:cs typeface="Corbel"/>
              </a:rPr>
              <a:t>a  </a:t>
            </a:r>
            <a:r>
              <a:rPr sz="1800" spc="10" dirty="0">
                <a:latin typeface="Corbel"/>
                <a:cs typeface="Corbel"/>
              </a:rPr>
              <a:t>casa</a:t>
            </a:r>
            <a:r>
              <a:rPr sz="1800" spc="-50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editrice</a:t>
            </a:r>
            <a:r>
              <a:rPr sz="1800" spc="-13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è</a:t>
            </a:r>
            <a:r>
              <a:rPr sz="1800" spc="15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sufficiente</a:t>
            </a:r>
            <a:r>
              <a:rPr sz="1800" spc="-135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gestire</a:t>
            </a:r>
            <a:r>
              <a:rPr sz="1800" spc="-60" dirty="0">
                <a:latin typeface="Corbel"/>
                <a:cs typeface="Corbel"/>
              </a:rPr>
              <a:t> </a:t>
            </a:r>
            <a:r>
              <a:rPr sz="1800" spc="15" dirty="0">
                <a:latin typeface="Corbel"/>
                <a:cs typeface="Corbel"/>
              </a:rPr>
              <a:t>informazioni</a:t>
            </a:r>
            <a:r>
              <a:rPr sz="1800" spc="-18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relative</a:t>
            </a:r>
            <a:r>
              <a:rPr sz="1800" spc="-13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a</a:t>
            </a:r>
            <a:r>
              <a:rPr sz="1800" spc="25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sede</a:t>
            </a:r>
            <a:r>
              <a:rPr sz="1800" spc="-5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e</a:t>
            </a:r>
            <a:r>
              <a:rPr sz="1800" spc="15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ad</a:t>
            </a:r>
            <a:r>
              <a:rPr sz="1800" spc="20" dirty="0">
                <a:latin typeface="Corbel"/>
                <a:cs typeface="Corbel"/>
              </a:rPr>
              <a:t> </a:t>
            </a:r>
            <a:r>
              <a:rPr sz="1800" spc="-20" dirty="0">
                <a:latin typeface="Corbel"/>
                <a:cs typeface="Corbel"/>
              </a:rPr>
              <a:t>un</a:t>
            </a:r>
            <a:endParaRPr sz="1800" dirty="0">
              <a:latin typeface="Corbel"/>
              <a:cs typeface="Corbel"/>
            </a:endParaRPr>
          </a:p>
          <a:p>
            <a:pPr marL="12700" marR="218440">
              <a:lnSpc>
                <a:spcPct val="100800"/>
              </a:lnSpc>
            </a:pPr>
            <a:r>
              <a:rPr sz="1800" spc="5" dirty="0">
                <a:latin typeface="Corbel"/>
                <a:cs typeface="Corbel"/>
              </a:rPr>
              <a:t>nome,</a:t>
            </a:r>
            <a:r>
              <a:rPr sz="1800" spc="-75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che</a:t>
            </a:r>
            <a:r>
              <a:rPr sz="1800" spc="35" dirty="0">
                <a:latin typeface="Corbel"/>
                <a:cs typeface="Corbel"/>
              </a:rPr>
              <a:t> </a:t>
            </a:r>
            <a:r>
              <a:rPr sz="1800" spc="20" dirty="0">
                <a:latin typeface="Corbel"/>
                <a:cs typeface="Corbel"/>
              </a:rPr>
              <a:t>coincide</a:t>
            </a:r>
            <a:r>
              <a:rPr sz="1800" spc="-120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con</a:t>
            </a:r>
            <a:r>
              <a:rPr sz="1800" spc="-105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l’identificatore</a:t>
            </a:r>
            <a:r>
              <a:rPr sz="1800" spc="-130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della</a:t>
            </a:r>
            <a:r>
              <a:rPr sz="1800" spc="-110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suddetta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casa</a:t>
            </a:r>
            <a:r>
              <a:rPr sz="1800" spc="6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editrice.I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testi </a:t>
            </a:r>
            <a:r>
              <a:rPr sz="1800" spc="-345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possono</a:t>
            </a:r>
            <a:r>
              <a:rPr sz="1800" spc="-125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essere</a:t>
            </a:r>
            <a:r>
              <a:rPr sz="1800" spc="-60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presi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spc="15" dirty="0">
                <a:latin typeface="Corbel"/>
                <a:cs typeface="Corbel"/>
              </a:rPr>
              <a:t>in</a:t>
            </a:r>
            <a:r>
              <a:rPr sz="1800" spc="-4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prestito,</a:t>
            </a:r>
            <a:r>
              <a:rPr sz="1800" spc="-90" dirty="0">
                <a:latin typeface="Corbel"/>
                <a:cs typeface="Corbel"/>
              </a:rPr>
              <a:t> </a:t>
            </a:r>
            <a:r>
              <a:rPr sz="1800" spc="-5" dirty="0">
                <a:latin typeface="Corbel"/>
                <a:cs typeface="Corbel"/>
              </a:rPr>
              <a:t>attraverso</a:t>
            </a:r>
            <a:r>
              <a:rPr sz="1800" spc="30" dirty="0">
                <a:latin typeface="Corbel"/>
                <a:cs typeface="Corbel"/>
              </a:rPr>
              <a:t> </a:t>
            </a:r>
            <a:r>
              <a:rPr sz="1800" spc="-5" dirty="0">
                <a:latin typeface="Corbel"/>
                <a:cs typeface="Corbel"/>
              </a:rPr>
              <a:t>una</a:t>
            </a:r>
            <a:r>
              <a:rPr sz="1800" spc="25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richiesta</a:t>
            </a:r>
            <a:r>
              <a:rPr sz="1800" spc="-125" dirty="0">
                <a:latin typeface="Corbel"/>
                <a:cs typeface="Corbel"/>
              </a:rPr>
              <a:t> </a:t>
            </a:r>
            <a:r>
              <a:rPr sz="1800" spc="-5" dirty="0">
                <a:latin typeface="Corbel"/>
                <a:cs typeface="Corbel"/>
              </a:rPr>
              <a:t>effettuata</a:t>
            </a:r>
            <a:r>
              <a:rPr sz="1800" spc="25" dirty="0">
                <a:latin typeface="Corbel"/>
                <a:cs typeface="Corbel"/>
              </a:rPr>
              <a:t> </a:t>
            </a:r>
            <a:r>
              <a:rPr sz="1800" spc="15" dirty="0">
                <a:latin typeface="Corbel"/>
                <a:cs typeface="Corbel"/>
              </a:rPr>
              <a:t>alla</a:t>
            </a:r>
            <a:endParaRPr sz="1800" dirty="0">
              <a:latin typeface="Corbel"/>
              <a:cs typeface="Corbel"/>
            </a:endParaRPr>
          </a:p>
          <a:p>
            <a:pPr marL="12700" marR="756920">
              <a:lnSpc>
                <a:spcPct val="100800"/>
              </a:lnSpc>
            </a:pPr>
            <a:r>
              <a:rPr sz="1800" spc="10" dirty="0">
                <a:latin typeface="Corbel"/>
                <a:cs typeface="Corbel"/>
              </a:rPr>
              <a:t>biblioteca, dagli </a:t>
            </a:r>
            <a:r>
              <a:rPr sz="1800" spc="-15" dirty="0">
                <a:latin typeface="Corbel"/>
                <a:cs typeface="Corbel"/>
              </a:rPr>
              <a:t>utenti </a:t>
            </a:r>
            <a:r>
              <a:rPr sz="1800" spc="10" dirty="0">
                <a:latin typeface="Corbel"/>
                <a:cs typeface="Corbel"/>
              </a:rPr>
              <a:t>della </a:t>
            </a:r>
            <a:r>
              <a:rPr sz="1800" spc="5" dirty="0">
                <a:latin typeface="Corbel"/>
                <a:cs typeface="Corbel"/>
              </a:rPr>
              <a:t>medesima. </a:t>
            </a:r>
            <a:r>
              <a:rPr sz="1800" spc="-35" dirty="0">
                <a:latin typeface="Corbel"/>
                <a:cs typeface="Corbel"/>
              </a:rPr>
              <a:t>Tali </a:t>
            </a:r>
            <a:r>
              <a:rPr sz="1800" spc="-15" dirty="0">
                <a:latin typeface="Corbel"/>
                <a:cs typeface="Corbel"/>
              </a:rPr>
              <a:t>utenti </a:t>
            </a:r>
            <a:r>
              <a:rPr sz="1800" spc="5" dirty="0">
                <a:latin typeface="Corbel"/>
                <a:cs typeface="Corbel"/>
              </a:rPr>
              <a:t>devono </a:t>
            </a:r>
            <a:r>
              <a:rPr sz="1800" spc="10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necessariamente</a:t>
            </a:r>
            <a:r>
              <a:rPr sz="1800" spc="-130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appartenere</a:t>
            </a:r>
            <a:r>
              <a:rPr sz="1800" spc="-125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ad</a:t>
            </a:r>
            <a:r>
              <a:rPr sz="1800" spc="30" dirty="0">
                <a:latin typeface="Corbel"/>
                <a:cs typeface="Corbel"/>
              </a:rPr>
              <a:t> </a:t>
            </a:r>
            <a:r>
              <a:rPr sz="1800" spc="-5" dirty="0">
                <a:latin typeface="Corbel"/>
                <a:cs typeface="Corbel"/>
              </a:rPr>
              <a:t>una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sola</a:t>
            </a:r>
            <a:r>
              <a:rPr sz="1800" spc="-40" dirty="0">
                <a:latin typeface="Corbel"/>
                <a:cs typeface="Corbel"/>
              </a:rPr>
              <a:t> </a:t>
            </a:r>
            <a:r>
              <a:rPr sz="1800" spc="10" dirty="0">
                <a:latin typeface="Corbel"/>
                <a:cs typeface="Corbel"/>
              </a:rPr>
              <a:t>delle</a:t>
            </a:r>
            <a:r>
              <a:rPr sz="1800" spc="-50" dirty="0">
                <a:latin typeface="Corbel"/>
                <a:cs typeface="Corbel"/>
              </a:rPr>
              <a:t> </a:t>
            </a:r>
            <a:r>
              <a:rPr sz="1800" spc="-5" dirty="0">
                <a:latin typeface="Corbel"/>
                <a:cs typeface="Corbel"/>
              </a:rPr>
              <a:t>seguenti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categorie:</a:t>
            </a:r>
            <a:endParaRPr sz="1800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spc="-10" dirty="0">
                <a:latin typeface="Corbel"/>
                <a:cs typeface="Corbel"/>
              </a:rPr>
              <a:t>Studente,</a:t>
            </a:r>
            <a:r>
              <a:rPr sz="1800" spc="5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Dottorando,</a:t>
            </a:r>
            <a:r>
              <a:rPr sz="1800" spc="-1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Docente</a:t>
            </a:r>
            <a:r>
              <a:rPr sz="1800" spc="-6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o</a:t>
            </a:r>
            <a:r>
              <a:rPr sz="1800" spc="20" dirty="0">
                <a:latin typeface="Corbel"/>
                <a:cs typeface="Corbel"/>
              </a:rPr>
              <a:t> </a:t>
            </a:r>
            <a:r>
              <a:rPr sz="1800" spc="5" dirty="0">
                <a:latin typeface="Corbel"/>
                <a:cs typeface="Corbel"/>
              </a:rPr>
              <a:t>Ricercatore</a:t>
            </a:r>
            <a:endParaRPr sz="1800" dirty="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2287517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26D96F-4947-38F1-922E-4AE924ED00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7219" y="141224"/>
            <a:ext cx="476821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Capire</a:t>
            </a:r>
            <a:r>
              <a:rPr spc="55" dirty="0"/>
              <a:t> </a:t>
            </a:r>
            <a:r>
              <a:rPr spc="-10" dirty="0"/>
              <a:t>cosa</a:t>
            </a:r>
            <a:r>
              <a:rPr spc="95" dirty="0"/>
              <a:t> </a:t>
            </a:r>
            <a:r>
              <a:rPr dirty="0"/>
              <a:t>progettare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035FAB54-0E6B-08C5-E7E8-9D56ABE5B2FF}"/>
              </a:ext>
            </a:extLst>
          </p:cNvPr>
          <p:cNvSpPr txBox="1"/>
          <p:nvPr/>
        </p:nvSpPr>
        <p:spPr>
          <a:xfrm>
            <a:off x="617219" y="457454"/>
            <a:ext cx="6329045" cy="84119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35560">
              <a:lnSpc>
                <a:spcPct val="100800"/>
              </a:lnSpc>
            </a:pPr>
            <a:endParaRPr lang="it-IT" spc="-10" dirty="0">
              <a:latin typeface="Corbel"/>
              <a:cs typeface="Corbel"/>
            </a:endParaRPr>
          </a:p>
          <a:p>
            <a:pPr marL="298450" marR="35560" indent="-285750">
              <a:lnSpc>
                <a:spcPct val="100800"/>
              </a:lnSpc>
              <a:buFont typeface="Arial" panose="020B0604020202020204" pitchFamily="34" charset="0"/>
              <a:buChar char="•"/>
            </a:pPr>
            <a:r>
              <a:rPr lang="it-IT" sz="1800" spc="-10" dirty="0">
                <a:latin typeface="Corbel"/>
                <a:cs typeface="Corbel"/>
              </a:rPr>
              <a:t>Ev</a:t>
            </a:r>
            <a:r>
              <a:rPr lang="it-IT" sz="1800" spc="30" dirty="0">
                <a:latin typeface="Corbel"/>
                <a:cs typeface="Corbel"/>
              </a:rPr>
              <a:t>i</a:t>
            </a:r>
            <a:r>
              <a:rPr lang="it-IT" sz="1800" spc="-30" dirty="0">
                <a:latin typeface="Corbel"/>
                <a:cs typeface="Corbel"/>
              </a:rPr>
              <a:t>t</a:t>
            </a:r>
            <a:r>
              <a:rPr lang="it-IT" sz="1800" spc="10" dirty="0">
                <a:latin typeface="Corbel"/>
                <a:cs typeface="Corbel"/>
              </a:rPr>
              <a:t>a</a:t>
            </a:r>
            <a:r>
              <a:rPr lang="it-IT" sz="1800" dirty="0">
                <a:latin typeface="Corbel"/>
                <a:cs typeface="Corbel"/>
              </a:rPr>
              <a:t>re</a:t>
            </a:r>
            <a:r>
              <a:rPr lang="it-IT" sz="1800" spc="10" dirty="0">
                <a:latin typeface="Corbel"/>
                <a:cs typeface="Corbel"/>
              </a:rPr>
              <a:t> </a:t>
            </a:r>
            <a:r>
              <a:rPr lang="it-IT" sz="1800" spc="25" dirty="0">
                <a:latin typeface="Corbel"/>
                <a:cs typeface="Corbel"/>
              </a:rPr>
              <a:t>f</a:t>
            </a:r>
            <a:r>
              <a:rPr lang="it-IT" sz="1800" dirty="0">
                <a:latin typeface="Corbel"/>
                <a:cs typeface="Corbel"/>
              </a:rPr>
              <a:t>r</a:t>
            </a:r>
            <a:r>
              <a:rPr lang="it-IT" sz="1800" spc="10" dirty="0">
                <a:latin typeface="Corbel"/>
                <a:cs typeface="Corbel"/>
              </a:rPr>
              <a:t>a</a:t>
            </a:r>
            <a:r>
              <a:rPr lang="it-IT" sz="1800" spc="15" dirty="0">
                <a:latin typeface="Corbel"/>
                <a:cs typeface="Corbel"/>
              </a:rPr>
              <a:t>s</a:t>
            </a:r>
            <a:r>
              <a:rPr lang="it-IT" sz="1800" dirty="0">
                <a:latin typeface="Corbel"/>
                <a:cs typeface="Corbel"/>
              </a:rPr>
              <a:t>i</a:t>
            </a:r>
            <a:r>
              <a:rPr lang="it-IT" sz="1800" spc="-105" dirty="0">
                <a:latin typeface="Corbel"/>
                <a:cs typeface="Corbel"/>
              </a:rPr>
              <a:t> </a:t>
            </a:r>
            <a:r>
              <a:rPr lang="it-IT" sz="1800" spc="30" dirty="0">
                <a:latin typeface="Corbel"/>
                <a:cs typeface="Corbel"/>
              </a:rPr>
              <a:t>c</a:t>
            </a:r>
            <a:r>
              <a:rPr lang="it-IT" sz="1800" spc="10" dirty="0">
                <a:latin typeface="Corbel"/>
                <a:cs typeface="Corbel"/>
              </a:rPr>
              <a:t>o</a:t>
            </a:r>
            <a:r>
              <a:rPr lang="it-IT" sz="1800" spc="20" dirty="0">
                <a:latin typeface="Corbel"/>
                <a:cs typeface="Corbel"/>
              </a:rPr>
              <a:t>n</a:t>
            </a:r>
            <a:r>
              <a:rPr lang="it-IT" sz="1800" spc="-30" dirty="0">
                <a:latin typeface="Corbel"/>
                <a:cs typeface="Corbel"/>
              </a:rPr>
              <a:t>t</a:t>
            </a:r>
            <a:r>
              <a:rPr lang="it-IT" sz="1800" spc="10" dirty="0">
                <a:latin typeface="Corbel"/>
                <a:cs typeface="Corbel"/>
              </a:rPr>
              <a:t>o</a:t>
            </a:r>
            <a:r>
              <a:rPr lang="it-IT" sz="1800" dirty="0">
                <a:latin typeface="Corbel"/>
                <a:cs typeface="Corbel"/>
              </a:rPr>
              <a:t>r</a:t>
            </a:r>
            <a:r>
              <a:rPr lang="it-IT" sz="1800" spc="-30" dirty="0">
                <a:latin typeface="Corbel"/>
                <a:cs typeface="Corbel"/>
              </a:rPr>
              <a:t>t</a:t>
            </a:r>
            <a:r>
              <a:rPr lang="it-IT" sz="1800" dirty="0">
                <a:latin typeface="Corbel"/>
                <a:cs typeface="Corbel"/>
              </a:rPr>
              <a:t>e</a:t>
            </a:r>
          </a:p>
          <a:p>
            <a:pPr marL="298450" marR="35560" indent="-285750">
              <a:lnSpc>
                <a:spcPct val="100800"/>
              </a:lnSpc>
              <a:buFont typeface="Arial" panose="020B0604020202020204" pitchFamily="34" charset="0"/>
              <a:buChar char="•"/>
            </a:pPr>
            <a:r>
              <a:rPr lang="it-IT" sz="1800" spc="5" dirty="0">
                <a:latin typeface="Corbel"/>
                <a:cs typeface="Corbel"/>
              </a:rPr>
              <a:t>Individuare</a:t>
            </a:r>
            <a:r>
              <a:rPr lang="it-IT" sz="1800" spc="-140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Sinonimi</a:t>
            </a:r>
            <a:r>
              <a:rPr lang="it-IT" sz="1800" spc="-105" dirty="0">
                <a:latin typeface="Corbel"/>
                <a:cs typeface="Corbel"/>
              </a:rPr>
              <a:t> </a:t>
            </a:r>
            <a:r>
              <a:rPr lang="it-IT" sz="1800" dirty="0">
                <a:latin typeface="Corbel"/>
                <a:cs typeface="Corbel"/>
              </a:rPr>
              <a:t>e</a:t>
            </a:r>
            <a:r>
              <a:rPr lang="it-IT" sz="1800" spc="-60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unificare</a:t>
            </a:r>
            <a:r>
              <a:rPr lang="it-IT" sz="1800" spc="-140" dirty="0">
                <a:latin typeface="Corbel"/>
                <a:cs typeface="Corbel"/>
              </a:rPr>
              <a:t> </a:t>
            </a:r>
            <a:r>
              <a:rPr lang="it-IT" sz="1800" dirty="0">
                <a:latin typeface="Corbel"/>
                <a:cs typeface="Corbel"/>
              </a:rPr>
              <a:t>i</a:t>
            </a:r>
            <a:r>
              <a:rPr lang="it-IT" sz="1800" spc="40" dirty="0">
                <a:latin typeface="Corbel"/>
                <a:cs typeface="Corbel"/>
              </a:rPr>
              <a:t> </a:t>
            </a:r>
            <a:r>
              <a:rPr lang="it-IT" sz="1800" dirty="0">
                <a:latin typeface="Corbel"/>
                <a:cs typeface="Corbel"/>
              </a:rPr>
              <a:t>termini</a:t>
            </a:r>
            <a:endParaRPr lang="it-IT" dirty="0">
              <a:latin typeface="Corbel"/>
              <a:cs typeface="Corbel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818E22B-268C-33AA-7D39-CEB341311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53" y="1609641"/>
            <a:ext cx="6080616" cy="4566543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675CFA3-9142-3FE7-94AC-4EEA2175F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369" y="53066"/>
            <a:ext cx="4996870" cy="675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002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E8F0A6-57E2-B328-499E-ED20E9F2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Capire come progettare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298121-CBBF-9ED0-C9AC-FC8485FB9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29" y="1830640"/>
            <a:ext cx="7342861" cy="388077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Lo sviluppo</a:t>
            </a:r>
            <a:r>
              <a:rPr lang="it-IT" sz="1800" spc="-12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di</a:t>
            </a:r>
            <a:r>
              <a:rPr lang="it-IT" sz="1800" spc="4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uno</a:t>
            </a:r>
            <a:r>
              <a:rPr lang="it-IT" sz="1800" spc="-5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schema</a:t>
            </a:r>
            <a:r>
              <a:rPr lang="it-IT" sz="1800" spc="-4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5" dirty="0">
                <a:solidFill>
                  <a:schemeClr val="tx1"/>
                </a:solidFill>
                <a:latin typeface="Corbel"/>
                <a:cs typeface="Corbel"/>
              </a:rPr>
              <a:t>concettuale</a:t>
            </a:r>
            <a:r>
              <a:rPr lang="it-IT" sz="1800" spc="-5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a</a:t>
            </a:r>
            <a:r>
              <a:rPr lang="it-IT" sz="1800" spc="-4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5" dirty="0">
                <a:solidFill>
                  <a:schemeClr val="tx1"/>
                </a:solidFill>
                <a:latin typeface="Corbel"/>
                <a:cs typeface="Corbel"/>
              </a:rPr>
              <a:t>partire</a:t>
            </a:r>
            <a:r>
              <a:rPr lang="it-IT" sz="1800" spc="2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15" dirty="0">
                <a:solidFill>
                  <a:schemeClr val="tx1"/>
                </a:solidFill>
                <a:latin typeface="Corbel"/>
                <a:cs typeface="Corbel"/>
              </a:rPr>
              <a:t>della</a:t>
            </a:r>
            <a:r>
              <a:rPr lang="it-IT" sz="1800" spc="-12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sue</a:t>
            </a:r>
            <a:r>
              <a:rPr lang="it-IT" sz="1800" spc="20" dirty="0">
                <a:solidFill>
                  <a:schemeClr val="tx1"/>
                </a:solidFill>
                <a:latin typeface="Corbel"/>
                <a:cs typeface="Corbel"/>
              </a:rPr>
              <a:t> specifiche</a:t>
            </a:r>
            <a:r>
              <a:rPr lang="it-IT" sz="1800" spc="-13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può </a:t>
            </a:r>
            <a:r>
              <a:rPr lang="it-IT" sz="1800" spc="-34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5" dirty="0">
                <a:solidFill>
                  <a:schemeClr val="tx1"/>
                </a:solidFill>
                <a:latin typeface="Corbel"/>
                <a:cs typeface="Corbel"/>
              </a:rPr>
              <a:t>essere 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considerato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a </a:t>
            </a:r>
            <a:r>
              <a:rPr lang="it-IT" sz="1800" spc="-25" dirty="0">
                <a:solidFill>
                  <a:schemeClr val="tx1"/>
                </a:solidFill>
                <a:latin typeface="Corbel"/>
                <a:cs typeface="Corbel"/>
              </a:rPr>
              <a:t>tutti </a:t>
            </a:r>
            <a:r>
              <a:rPr lang="it-IT" sz="1800" spc="15" dirty="0">
                <a:solidFill>
                  <a:schemeClr val="tx1"/>
                </a:solidFill>
                <a:latin typeface="Corbel"/>
                <a:cs typeface="Corbel"/>
              </a:rPr>
              <a:t>gli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effetti </a:t>
            </a: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un 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processo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di 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ingegnerizzazione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e, </a:t>
            </a:r>
            <a:r>
              <a:rPr lang="it-IT" sz="1800" spc="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come</a:t>
            </a:r>
            <a:r>
              <a:rPr lang="it-IT" sz="1800" spc="-5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tale,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risulta</a:t>
            </a:r>
            <a:r>
              <a:rPr lang="it-IT" sz="1800" spc="-4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a</a:t>
            </a:r>
            <a:r>
              <a:rPr lang="it-IT" sz="1800" spc="3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esso</a:t>
            </a:r>
            <a:r>
              <a:rPr lang="it-IT" sz="1800" spc="-5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applicabili</a:t>
            </a:r>
            <a:r>
              <a:rPr lang="it-IT" sz="1800" spc="-18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15" dirty="0">
                <a:solidFill>
                  <a:schemeClr val="tx1"/>
                </a:solidFill>
                <a:latin typeface="Corbel"/>
                <a:cs typeface="Corbel"/>
              </a:rPr>
              <a:t>delle</a:t>
            </a:r>
            <a:r>
              <a:rPr lang="it-IT" sz="1800" spc="-13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strategie.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Tra quelle</a:t>
            </a:r>
            <a:r>
              <a:rPr lang="it-IT" sz="1800" spc="-4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studiate</a:t>
            </a:r>
            <a:r>
              <a:rPr lang="it-IT" sz="1800" spc="2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abbiamo</a:t>
            </a:r>
            <a:r>
              <a:rPr lang="it-IT" sz="1800" spc="-114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scelto</a:t>
            </a:r>
            <a:r>
              <a:rPr lang="it-IT" sz="1800" spc="-4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di</a:t>
            </a:r>
            <a:r>
              <a:rPr lang="it-IT" sz="1800" spc="-2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5" dirty="0">
                <a:solidFill>
                  <a:schemeClr val="tx1"/>
                </a:solidFill>
                <a:latin typeface="Corbel"/>
                <a:cs typeface="Corbel"/>
              </a:rPr>
              <a:t>procedere</a:t>
            </a:r>
            <a:r>
              <a:rPr lang="it-IT" sz="1800" spc="-4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utilizzando</a:t>
            </a:r>
            <a:r>
              <a:rPr lang="it-IT" sz="1800" spc="-12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15" dirty="0">
                <a:solidFill>
                  <a:schemeClr val="tx1"/>
                </a:solidFill>
                <a:latin typeface="Corbel"/>
                <a:cs typeface="Corbel"/>
              </a:rPr>
              <a:t>la</a:t>
            </a:r>
            <a:r>
              <a:rPr lang="it-IT" sz="1800" spc="-3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strategia </a:t>
            </a:r>
            <a:r>
              <a:rPr lang="it-IT" sz="1800" spc="-34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5" dirty="0">
                <a:solidFill>
                  <a:schemeClr val="tx1"/>
                </a:solidFill>
                <a:latin typeface="Corbel"/>
                <a:cs typeface="Corbel"/>
              </a:rPr>
              <a:t>Inside-out</a:t>
            </a:r>
            <a:endParaRPr lang="it-IT" sz="1800" dirty="0">
              <a:solidFill>
                <a:schemeClr val="tx1"/>
              </a:solidFill>
              <a:latin typeface="Corbel"/>
              <a:cs typeface="Corbel"/>
            </a:endParaRPr>
          </a:p>
          <a:p>
            <a:pPr>
              <a:buFont typeface="Arial" panose="020B0604020202020204" pitchFamily="34" charset="0"/>
              <a:buChar char="•"/>
            </a:pP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76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36E5C8-000B-CB82-A041-5DA8942C8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pc="-5" dirty="0"/>
              <a:t>Esempio</a:t>
            </a:r>
            <a:r>
              <a:rPr lang="it-IT" spc="114" dirty="0"/>
              <a:t> </a:t>
            </a:r>
            <a:r>
              <a:rPr lang="it-IT" spc="-10" dirty="0"/>
              <a:t>di</a:t>
            </a:r>
            <a:r>
              <a:rPr lang="it-IT" spc="50" dirty="0"/>
              <a:t> </a:t>
            </a:r>
            <a:r>
              <a:rPr lang="it-IT" spc="10" dirty="0"/>
              <a:t>normalizzazione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20193B6-6218-FE17-4F47-801066D887AE}"/>
              </a:ext>
            </a:extLst>
          </p:cNvPr>
          <p:cNvSpPr txBox="1"/>
          <p:nvPr/>
        </p:nvSpPr>
        <p:spPr>
          <a:xfrm>
            <a:off x="677334" y="1799426"/>
            <a:ext cx="8481133" cy="1482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it-IT" sz="1800" spc="5" dirty="0">
                <a:latin typeface="Corbel"/>
                <a:cs typeface="Corbel"/>
              </a:rPr>
              <a:t>Siamo</a:t>
            </a:r>
            <a:r>
              <a:rPr lang="it-IT" sz="1800" spc="-50" dirty="0">
                <a:latin typeface="Corbel"/>
                <a:cs typeface="Corbel"/>
              </a:rPr>
              <a:t> </a:t>
            </a:r>
            <a:r>
              <a:rPr lang="it-IT" sz="1800" dirty="0">
                <a:latin typeface="Corbel"/>
                <a:cs typeface="Corbel"/>
              </a:rPr>
              <a:t>partiti</a:t>
            </a:r>
            <a:r>
              <a:rPr lang="it-IT" sz="1800" spc="-35" dirty="0">
                <a:latin typeface="Corbel"/>
                <a:cs typeface="Corbel"/>
              </a:rPr>
              <a:t> </a:t>
            </a:r>
            <a:r>
              <a:rPr lang="it-IT" sz="1800" dirty="0">
                <a:latin typeface="Corbel"/>
                <a:cs typeface="Corbel"/>
              </a:rPr>
              <a:t>da</a:t>
            </a:r>
            <a:r>
              <a:rPr lang="it-IT" sz="1800" spc="-50" dirty="0">
                <a:latin typeface="Corbel"/>
                <a:cs typeface="Corbel"/>
              </a:rPr>
              <a:t> </a:t>
            </a:r>
            <a:r>
              <a:rPr lang="it-IT" sz="1800" spc="-20" dirty="0">
                <a:latin typeface="Corbel"/>
                <a:cs typeface="Corbel"/>
              </a:rPr>
              <a:t>un</a:t>
            </a:r>
            <a:r>
              <a:rPr lang="it-IT" sz="1800" spc="40" dirty="0">
                <a:latin typeface="Corbel"/>
                <a:cs typeface="Corbel"/>
              </a:rPr>
              <a:t> </a:t>
            </a:r>
            <a:r>
              <a:rPr lang="it-IT" sz="1800" spc="5" dirty="0">
                <a:latin typeface="Corbel"/>
                <a:cs typeface="Corbel"/>
              </a:rPr>
              <a:t>concetto</a:t>
            </a:r>
            <a:r>
              <a:rPr lang="it-IT" sz="1800" spc="-50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fondamentale</a:t>
            </a:r>
            <a:r>
              <a:rPr lang="it-IT" sz="1800" spc="-135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della</a:t>
            </a:r>
            <a:r>
              <a:rPr lang="it-IT" sz="1800" spc="-50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biblioteca</a:t>
            </a:r>
            <a:r>
              <a:rPr lang="it-IT" sz="1800" spc="-125" dirty="0">
                <a:latin typeface="Corbel"/>
                <a:cs typeface="Corbel"/>
              </a:rPr>
              <a:t> </a:t>
            </a:r>
            <a:r>
              <a:rPr lang="it-IT" sz="1800" spc="-5" dirty="0">
                <a:latin typeface="Corbel"/>
                <a:cs typeface="Corbel"/>
              </a:rPr>
              <a:t>ovvero</a:t>
            </a:r>
            <a:r>
              <a:rPr lang="it-IT" sz="1800" spc="-45" dirty="0">
                <a:latin typeface="Corbel"/>
                <a:cs typeface="Corbel"/>
              </a:rPr>
              <a:t> </a:t>
            </a:r>
            <a:r>
              <a:rPr lang="it-IT" sz="1800" spc="15" dirty="0">
                <a:latin typeface="Corbel"/>
                <a:cs typeface="Corbel"/>
              </a:rPr>
              <a:t>il</a:t>
            </a:r>
            <a:r>
              <a:rPr lang="it-IT" sz="1800" spc="-35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libro</a:t>
            </a:r>
            <a:endParaRPr lang="it-IT" sz="1800" dirty="0">
              <a:latin typeface="Corbel"/>
              <a:cs typeface="Corbel"/>
            </a:endParaRPr>
          </a:p>
          <a:p>
            <a:pPr marL="12700" marR="5080">
              <a:lnSpc>
                <a:spcPct val="100800"/>
              </a:lnSpc>
            </a:pPr>
            <a:r>
              <a:rPr lang="it-IT" sz="1800" spc="-35" dirty="0">
                <a:latin typeface="Corbel"/>
                <a:cs typeface="Corbel"/>
              </a:rPr>
              <a:t>u</a:t>
            </a:r>
            <a:r>
              <a:rPr lang="it-IT" sz="1800" spc="20" dirty="0">
                <a:latin typeface="Corbel"/>
                <a:cs typeface="Corbel"/>
              </a:rPr>
              <a:t>n'</a:t>
            </a:r>
            <a:r>
              <a:rPr lang="it-IT" sz="1800" dirty="0">
                <a:latin typeface="Corbel"/>
                <a:cs typeface="Corbel"/>
              </a:rPr>
              <a:t>e</a:t>
            </a:r>
            <a:r>
              <a:rPr lang="it-IT" sz="1800" spc="25" dirty="0">
                <a:latin typeface="Corbel"/>
                <a:cs typeface="Corbel"/>
              </a:rPr>
              <a:t>n</a:t>
            </a:r>
            <a:r>
              <a:rPr lang="it-IT" sz="1800" spc="-30" dirty="0">
                <a:latin typeface="Corbel"/>
                <a:cs typeface="Corbel"/>
              </a:rPr>
              <a:t>t</a:t>
            </a:r>
            <a:r>
              <a:rPr lang="it-IT" sz="1800" spc="30" dirty="0">
                <a:latin typeface="Corbel"/>
                <a:cs typeface="Corbel"/>
              </a:rPr>
              <a:t>i</a:t>
            </a:r>
            <a:r>
              <a:rPr lang="it-IT" sz="1800" spc="-30" dirty="0">
                <a:latin typeface="Corbel"/>
                <a:cs typeface="Corbel"/>
              </a:rPr>
              <a:t>t</a:t>
            </a:r>
            <a:r>
              <a:rPr lang="it-IT" sz="1800" dirty="0">
                <a:latin typeface="Corbel"/>
                <a:cs typeface="Corbel"/>
              </a:rPr>
              <a:t>à </a:t>
            </a:r>
            <a:r>
              <a:rPr lang="it-IT" sz="1800" spc="-20" dirty="0">
                <a:latin typeface="Corbel"/>
                <a:cs typeface="Corbel"/>
              </a:rPr>
              <a:t> </a:t>
            </a:r>
            <a:r>
              <a:rPr lang="it-IT" sz="1800" spc="30" dirty="0">
                <a:latin typeface="Corbel"/>
                <a:cs typeface="Corbel"/>
              </a:rPr>
              <a:t>c</a:t>
            </a:r>
            <a:r>
              <a:rPr lang="it-IT" sz="1800" spc="10" dirty="0">
                <a:latin typeface="Corbel"/>
                <a:cs typeface="Corbel"/>
              </a:rPr>
              <a:t>h</a:t>
            </a:r>
            <a:r>
              <a:rPr lang="it-IT" sz="1800" dirty="0">
                <a:latin typeface="Corbel"/>
                <a:cs typeface="Corbel"/>
              </a:rPr>
              <a:t>e</a:t>
            </a:r>
            <a:r>
              <a:rPr lang="it-IT" sz="1800" spc="-60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h</a:t>
            </a:r>
            <a:r>
              <a:rPr lang="it-IT" sz="1800" dirty="0">
                <a:latin typeface="Corbel"/>
                <a:cs typeface="Corbel"/>
              </a:rPr>
              <a:t>a</a:t>
            </a:r>
            <a:r>
              <a:rPr lang="it-IT" sz="1800" spc="25" dirty="0">
                <a:latin typeface="Corbel"/>
                <a:cs typeface="Corbel"/>
              </a:rPr>
              <a:t> </a:t>
            </a:r>
            <a:r>
              <a:rPr lang="it-IT" sz="1800" spc="30" dirty="0">
                <a:latin typeface="Corbel"/>
                <a:cs typeface="Corbel"/>
              </a:rPr>
              <a:t>c</a:t>
            </a:r>
            <a:r>
              <a:rPr lang="it-IT" sz="1800" spc="10" dirty="0">
                <a:latin typeface="Corbel"/>
                <a:cs typeface="Corbel"/>
              </a:rPr>
              <a:t>o</a:t>
            </a:r>
            <a:r>
              <a:rPr lang="it-IT" sz="1800" dirty="0">
                <a:latin typeface="Corbel"/>
                <a:cs typeface="Corbel"/>
              </a:rPr>
              <a:t>me</a:t>
            </a:r>
            <a:r>
              <a:rPr lang="it-IT" sz="1800" spc="-60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a</a:t>
            </a:r>
            <a:r>
              <a:rPr lang="it-IT" sz="1800" spc="-30" dirty="0">
                <a:latin typeface="Corbel"/>
                <a:cs typeface="Corbel"/>
              </a:rPr>
              <a:t>tt</a:t>
            </a:r>
            <a:r>
              <a:rPr lang="it-IT" sz="1800" dirty="0">
                <a:latin typeface="Corbel"/>
                <a:cs typeface="Corbel"/>
              </a:rPr>
              <a:t>r</a:t>
            </a:r>
            <a:r>
              <a:rPr lang="it-IT" sz="1800" spc="25" dirty="0">
                <a:latin typeface="Corbel"/>
                <a:cs typeface="Corbel"/>
              </a:rPr>
              <a:t>i</a:t>
            </a:r>
            <a:r>
              <a:rPr lang="it-IT" sz="1800" spc="5" dirty="0">
                <a:latin typeface="Corbel"/>
                <a:cs typeface="Corbel"/>
              </a:rPr>
              <a:t>b</a:t>
            </a:r>
            <a:r>
              <a:rPr lang="it-IT" sz="1800" spc="-35" dirty="0">
                <a:latin typeface="Corbel"/>
                <a:cs typeface="Corbel"/>
              </a:rPr>
              <a:t>u</a:t>
            </a:r>
            <a:r>
              <a:rPr lang="it-IT" sz="1800" spc="-30" dirty="0">
                <a:latin typeface="Corbel"/>
                <a:cs typeface="Corbel"/>
              </a:rPr>
              <a:t>t</a:t>
            </a:r>
            <a:r>
              <a:rPr lang="it-IT" sz="1800" spc="30" dirty="0">
                <a:latin typeface="Corbel"/>
                <a:cs typeface="Corbel"/>
              </a:rPr>
              <a:t>i</a:t>
            </a:r>
            <a:r>
              <a:rPr lang="it-IT" sz="1800" dirty="0">
                <a:latin typeface="Corbel"/>
                <a:cs typeface="Corbel"/>
              </a:rPr>
              <a:t>:</a:t>
            </a:r>
            <a:r>
              <a:rPr lang="it-IT" sz="1800" spc="-15" dirty="0">
                <a:latin typeface="Corbel"/>
                <a:cs typeface="Corbel"/>
              </a:rPr>
              <a:t> </a:t>
            </a:r>
            <a:r>
              <a:rPr lang="it-IT" sz="1800" spc="5" dirty="0">
                <a:latin typeface="Corbel"/>
                <a:cs typeface="Corbel"/>
              </a:rPr>
              <a:t>I</a:t>
            </a:r>
            <a:r>
              <a:rPr lang="it-IT" sz="1800" spc="-20" dirty="0">
                <a:latin typeface="Corbel"/>
                <a:cs typeface="Corbel"/>
              </a:rPr>
              <a:t>SB</a:t>
            </a:r>
            <a:r>
              <a:rPr lang="it-IT" sz="1800" spc="15" dirty="0">
                <a:latin typeface="Corbel"/>
                <a:cs typeface="Corbel"/>
              </a:rPr>
              <a:t>N</a:t>
            </a:r>
            <a:r>
              <a:rPr lang="it-IT" sz="1800" dirty="0">
                <a:latin typeface="Corbel"/>
                <a:cs typeface="Corbel"/>
              </a:rPr>
              <a:t>,</a:t>
            </a:r>
            <a:r>
              <a:rPr lang="it-IT" sz="1800" spc="-50" dirty="0">
                <a:latin typeface="Corbel"/>
                <a:cs typeface="Corbel"/>
              </a:rPr>
              <a:t> </a:t>
            </a:r>
            <a:r>
              <a:rPr lang="it-IT" sz="1800" spc="-25" dirty="0" err="1">
                <a:latin typeface="Corbel"/>
                <a:cs typeface="Corbel"/>
              </a:rPr>
              <a:t>T</a:t>
            </a:r>
            <a:r>
              <a:rPr lang="it-IT" sz="1800" spc="30" dirty="0" err="1">
                <a:latin typeface="Corbel"/>
                <a:cs typeface="Corbel"/>
              </a:rPr>
              <a:t>i</a:t>
            </a:r>
            <a:r>
              <a:rPr lang="it-IT" sz="1800" spc="-25" dirty="0" err="1">
                <a:latin typeface="Corbel"/>
                <a:cs typeface="Corbel"/>
              </a:rPr>
              <a:t>t</a:t>
            </a:r>
            <a:r>
              <a:rPr lang="it-IT" sz="1800" spc="10" dirty="0" err="1">
                <a:latin typeface="Corbel"/>
                <a:cs typeface="Corbel"/>
              </a:rPr>
              <a:t>o</a:t>
            </a:r>
            <a:r>
              <a:rPr lang="it-IT" sz="1800" spc="30" dirty="0" err="1">
                <a:latin typeface="Corbel"/>
                <a:cs typeface="Corbel"/>
              </a:rPr>
              <a:t>l</a:t>
            </a:r>
            <a:r>
              <a:rPr lang="it-IT" sz="1800" spc="10" dirty="0" err="1">
                <a:latin typeface="Corbel"/>
                <a:cs typeface="Corbel"/>
              </a:rPr>
              <a:t>o</a:t>
            </a:r>
            <a:r>
              <a:rPr lang="it-IT" sz="1800" spc="35" dirty="0" err="1">
                <a:latin typeface="Corbel"/>
                <a:cs typeface="Corbel"/>
              </a:rPr>
              <a:t>L</a:t>
            </a:r>
            <a:r>
              <a:rPr lang="it-IT" sz="1800" spc="30" dirty="0" err="1">
                <a:latin typeface="Corbel"/>
                <a:cs typeface="Corbel"/>
              </a:rPr>
              <a:t>i</a:t>
            </a:r>
            <a:r>
              <a:rPr lang="it-IT" sz="1800" spc="5" dirty="0" err="1">
                <a:latin typeface="Corbel"/>
                <a:cs typeface="Corbel"/>
              </a:rPr>
              <a:t>b</a:t>
            </a:r>
            <a:r>
              <a:rPr lang="it-IT" sz="1800" dirty="0" err="1">
                <a:latin typeface="Corbel"/>
                <a:cs typeface="Corbel"/>
              </a:rPr>
              <a:t>r</a:t>
            </a:r>
            <a:r>
              <a:rPr lang="it-IT" sz="1800" spc="15" dirty="0" err="1">
                <a:latin typeface="Corbel"/>
                <a:cs typeface="Corbel"/>
              </a:rPr>
              <a:t>o</a:t>
            </a:r>
            <a:r>
              <a:rPr lang="it-IT" sz="1800" dirty="0">
                <a:latin typeface="Corbel"/>
                <a:cs typeface="Corbel"/>
              </a:rPr>
              <a:t>,</a:t>
            </a:r>
            <a:r>
              <a:rPr lang="it-IT" sz="1800" spc="-165" dirty="0">
                <a:latin typeface="Corbel"/>
                <a:cs typeface="Corbel"/>
              </a:rPr>
              <a:t> </a:t>
            </a:r>
            <a:r>
              <a:rPr lang="it-IT" sz="1800" spc="-15" dirty="0" err="1">
                <a:latin typeface="Corbel"/>
                <a:cs typeface="Corbel"/>
              </a:rPr>
              <a:t>C</a:t>
            </a:r>
            <a:r>
              <a:rPr lang="it-IT" sz="1800" spc="10" dirty="0" err="1">
                <a:latin typeface="Corbel"/>
                <a:cs typeface="Corbel"/>
              </a:rPr>
              <a:t>a</a:t>
            </a:r>
            <a:r>
              <a:rPr lang="it-IT" sz="1800" spc="15" dirty="0" err="1">
                <a:latin typeface="Corbel"/>
                <a:cs typeface="Corbel"/>
              </a:rPr>
              <a:t>s</a:t>
            </a:r>
            <a:r>
              <a:rPr lang="it-IT" sz="1800" spc="10" dirty="0" err="1">
                <a:latin typeface="Corbel"/>
                <a:cs typeface="Corbel"/>
              </a:rPr>
              <a:t>a</a:t>
            </a:r>
            <a:r>
              <a:rPr lang="it-IT" sz="1800" spc="-20" dirty="0" err="1">
                <a:latin typeface="Corbel"/>
                <a:cs typeface="Corbel"/>
              </a:rPr>
              <a:t>E</a:t>
            </a:r>
            <a:r>
              <a:rPr lang="it-IT" sz="1800" spc="5" dirty="0" err="1">
                <a:latin typeface="Corbel"/>
                <a:cs typeface="Corbel"/>
              </a:rPr>
              <a:t>d</a:t>
            </a:r>
            <a:r>
              <a:rPr lang="it-IT" sz="1800" spc="30" dirty="0" err="1">
                <a:latin typeface="Corbel"/>
                <a:cs typeface="Corbel"/>
              </a:rPr>
              <a:t>i</a:t>
            </a:r>
            <a:r>
              <a:rPr lang="it-IT" sz="1800" spc="-30" dirty="0" err="1">
                <a:latin typeface="Corbel"/>
                <a:cs typeface="Corbel"/>
              </a:rPr>
              <a:t>t</a:t>
            </a:r>
            <a:r>
              <a:rPr lang="it-IT" sz="1800" dirty="0" err="1">
                <a:latin typeface="Corbel"/>
                <a:cs typeface="Corbel"/>
              </a:rPr>
              <a:t>r</a:t>
            </a:r>
            <a:r>
              <a:rPr lang="it-IT" sz="1800" spc="25" dirty="0" err="1">
                <a:latin typeface="Corbel"/>
                <a:cs typeface="Corbel"/>
              </a:rPr>
              <a:t>i</a:t>
            </a:r>
            <a:r>
              <a:rPr lang="it-IT" sz="1800" spc="30" dirty="0" err="1">
                <a:latin typeface="Corbel"/>
                <a:cs typeface="Corbel"/>
              </a:rPr>
              <a:t>c</a:t>
            </a:r>
            <a:r>
              <a:rPr lang="it-IT" sz="1800" dirty="0" err="1">
                <a:latin typeface="Corbel"/>
                <a:cs typeface="Corbel"/>
              </a:rPr>
              <a:t>e</a:t>
            </a:r>
            <a:r>
              <a:rPr lang="it-IT" sz="1800" spc="-114" dirty="0">
                <a:latin typeface="Corbel"/>
                <a:cs typeface="Corbel"/>
              </a:rPr>
              <a:t> </a:t>
            </a:r>
            <a:r>
              <a:rPr lang="it-IT" sz="1800" dirty="0">
                <a:latin typeface="Corbel"/>
                <a:cs typeface="Corbel"/>
              </a:rPr>
              <a:t>e</a:t>
            </a:r>
            <a:r>
              <a:rPr lang="it-IT" sz="1800" spc="-135" dirty="0">
                <a:latin typeface="Corbel"/>
                <a:cs typeface="Corbel"/>
              </a:rPr>
              <a:t> </a:t>
            </a:r>
            <a:r>
              <a:rPr lang="it-IT" sz="1800" spc="-20" dirty="0" err="1">
                <a:latin typeface="Corbel"/>
                <a:cs typeface="Corbel"/>
              </a:rPr>
              <a:t>S</a:t>
            </a:r>
            <a:r>
              <a:rPr lang="it-IT" sz="1800" dirty="0" err="1">
                <a:latin typeface="Corbel"/>
                <a:cs typeface="Corbel"/>
              </a:rPr>
              <a:t>e</a:t>
            </a:r>
            <a:r>
              <a:rPr lang="it-IT" sz="1800" spc="15" dirty="0" err="1">
                <a:latin typeface="Corbel"/>
                <a:cs typeface="Corbel"/>
              </a:rPr>
              <a:t>d</a:t>
            </a:r>
            <a:r>
              <a:rPr lang="it-IT" sz="1800" dirty="0" err="1">
                <a:latin typeface="Corbel"/>
                <a:cs typeface="Corbel"/>
              </a:rPr>
              <a:t>eC</a:t>
            </a:r>
            <a:r>
              <a:rPr lang="it-IT" sz="1800" spc="10" dirty="0" err="1">
                <a:latin typeface="Corbel"/>
                <a:cs typeface="Corbel"/>
              </a:rPr>
              <a:t>a</a:t>
            </a:r>
            <a:r>
              <a:rPr lang="it-IT" sz="1800" spc="20" dirty="0" err="1">
                <a:latin typeface="Corbel"/>
                <a:cs typeface="Corbel"/>
              </a:rPr>
              <a:t>s</a:t>
            </a:r>
            <a:r>
              <a:rPr lang="it-IT" sz="1800" spc="15" dirty="0" err="1">
                <a:latin typeface="Corbel"/>
                <a:cs typeface="Corbel"/>
              </a:rPr>
              <a:t>a</a:t>
            </a:r>
            <a:r>
              <a:rPr lang="it-IT" sz="1800" spc="-20" dirty="0" err="1">
                <a:latin typeface="Corbel"/>
                <a:cs typeface="Corbel"/>
              </a:rPr>
              <a:t>E</a:t>
            </a:r>
            <a:r>
              <a:rPr lang="it-IT" sz="1800" spc="5" dirty="0" err="1">
                <a:latin typeface="Corbel"/>
                <a:cs typeface="Corbel"/>
              </a:rPr>
              <a:t>d</a:t>
            </a:r>
            <a:r>
              <a:rPr lang="it-IT" sz="1800" spc="30" dirty="0" err="1">
                <a:latin typeface="Corbel"/>
                <a:cs typeface="Corbel"/>
              </a:rPr>
              <a:t>i</a:t>
            </a:r>
            <a:r>
              <a:rPr lang="it-IT" sz="1800" spc="-25" dirty="0" err="1">
                <a:latin typeface="Corbel"/>
                <a:cs typeface="Corbel"/>
              </a:rPr>
              <a:t>t</a:t>
            </a:r>
            <a:r>
              <a:rPr lang="it-IT" sz="1800" dirty="0" err="1">
                <a:latin typeface="Corbel"/>
                <a:cs typeface="Corbel"/>
              </a:rPr>
              <a:t>r</a:t>
            </a:r>
            <a:r>
              <a:rPr lang="it-IT" sz="1800" spc="30" dirty="0" err="1">
                <a:latin typeface="Corbel"/>
                <a:cs typeface="Corbel"/>
              </a:rPr>
              <a:t>i</a:t>
            </a:r>
            <a:r>
              <a:rPr lang="it-IT" sz="1800" spc="35" dirty="0" err="1">
                <a:latin typeface="Corbel"/>
                <a:cs typeface="Corbel"/>
              </a:rPr>
              <a:t>c</a:t>
            </a:r>
            <a:r>
              <a:rPr lang="it-IT" sz="1800" spc="-10" dirty="0" err="1">
                <a:latin typeface="Corbel"/>
                <a:cs typeface="Corbel"/>
              </a:rPr>
              <a:t>e</a:t>
            </a:r>
            <a:r>
              <a:rPr lang="it-IT" sz="1800" dirty="0">
                <a:latin typeface="Corbel"/>
                <a:cs typeface="Corbel"/>
              </a:rPr>
              <a:t>.  </a:t>
            </a:r>
            <a:br>
              <a:rPr lang="it-IT" sz="1800" dirty="0">
                <a:latin typeface="Corbel"/>
                <a:cs typeface="Corbel"/>
              </a:rPr>
            </a:br>
            <a:r>
              <a:rPr lang="it-IT" sz="1800" spc="-20" dirty="0">
                <a:latin typeface="Corbel"/>
                <a:cs typeface="Corbel"/>
              </a:rPr>
              <a:t>Per</a:t>
            </a:r>
            <a:r>
              <a:rPr lang="it-IT" sz="1800" spc="-60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ogni</a:t>
            </a:r>
            <a:r>
              <a:rPr lang="it-IT" sz="1800" spc="-30" dirty="0">
                <a:latin typeface="Corbel"/>
                <a:cs typeface="Corbel"/>
              </a:rPr>
              <a:t> </a:t>
            </a:r>
            <a:r>
              <a:rPr lang="it-IT" sz="1800" dirty="0">
                <a:latin typeface="Corbel"/>
                <a:cs typeface="Corbel"/>
              </a:rPr>
              <a:t>entità</a:t>
            </a:r>
            <a:r>
              <a:rPr lang="it-IT" sz="1800" spc="-45" dirty="0">
                <a:latin typeface="Corbel"/>
                <a:cs typeface="Corbel"/>
              </a:rPr>
              <a:t> </a:t>
            </a:r>
            <a:r>
              <a:rPr lang="it-IT" sz="1800" dirty="0">
                <a:latin typeface="Corbel"/>
                <a:cs typeface="Corbel"/>
              </a:rPr>
              <a:t>è</a:t>
            </a:r>
            <a:r>
              <a:rPr lang="it-IT" sz="1800" spc="20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necessario</a:t>
            </a:r>
            <a:r>
              <a:rPr lang="it-IT" sz="1800" spc="-125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verificare</a:t>
            </a:r>
            <a:r>
              <a:rPr lang="it-IT" sz="1800" spc="-135" dirty="0">
                <a:latin typeface="Corbel"/>
                <a:cs typeface="Corbel"/>
              </a:rPr>
              <a:t> </a:t>
            </a:r>
            <a:r>
              <a:rPr lang="it-IT" sz="1800" spc="5" dirty="0">
                <a:latin typeface="Corbel"/>
                <a:cs typeface="Corbel"/>
              </a:rPr>
              <a:t>se</a:t>
            </a:r>
            <a:r>
              <a:rPr lang="it-IT" sz="1800" spc="-60" dirty="0">
                <a:latin typeface="Corbel"/>
                <a:cs typeface="Corbel"/>
              </a:rPr>
              <a:t> </a:t>
            </a:r>
            <a:r>
              <a:rPr lang="it-IT" sz="1800" spc="5" dirty="0">
                <a:latin typeface="Corbel"/>
                <a:cs typeface="Corbel"/>
              </a:rPr>
              <a:t>esistono</a:t>
            </a:r>
            <a:r>
              <a:rPr lang="it-IT" sz="1800" spc="-45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dipendenze</a:t>
            </a:r>
            <a:r>
              <a:rPr lang="it-IT" sz="1800" spc="-130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funzionali</a:t>
            </a:r>
            <a:r>
              <a:rPr lang="it-IT" sz="1800" spc="-105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che</a:t>
            </a:r>
            <a:endParaRPr lang="it-IT" sz="1800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it-IT" sz="1800" spc="15" dirty="0">
                <a:latin typeface="Corbel"/>
                <a:cs typeface="Corbel"/>
              </a:rPr>
              <a:t>s</a:t>
            </a:r>
            <a:r>
              <a:rPr lang="it-IT" sz="1800" spc="-35" dirty="0">
                <a:latin typeface="Corbel"/>
                <a:cs typeface="Corbel"/>
              </a:rPr>
              <a:t>u</a:t>
            </a:r>
            <a:r>
              <a:rPr lang="it-IT" sz="1800" spc="15" dirty="0">
                <a:latin typeface="Corbel"/>
                <a:cs typeface="Corbel"/>
              </a:rPr>
              <a:t>ss</a:t>
            </a:r>
            <a:r>
              <a:rPr lang="it-IT" sz="1800" spc="30" dirty="0">
                <a:latin typeface="Corbel"/>
                <a:cs typeface="Corbel"/>
              </a:rPr>
              <a:t>i</a:t>
            </a:r>
            <a:r>
              <a:rPr lang="it-IT" sz="1800" spc="15" dirty="0">
                <a:latin typeface="Corbel"/>
                <a:cs typeface="Corbel"/>
              </a:rPr>
              <a:t>s</a:t>
            </a:r>
            <a:r>
              <a:rPr lang="it-IT" sz="1800" spc="-30" dirty="0">
                <a:latin typeface="Corbel"/>
                <a:cs typeface="Corbel"/>
              </a:rPr>
              <a:t>t</a:t>
            </a:r>
            <a:r>
              <a:rPr lang="it-IT" sz="1800" spc="10" dirty="0">
                <a:latin typeface="Corbel"/>
                <a:cs typeface="Corbel"/>
              </a:rPr>
              <a:t>o</a:t>
            </a:r>
            <a:r>
              <a:rPr lang="it-IT" sz="1800" spc="20" dirty="0">
                <a:latin typeface="Corbel"/>
                <a:cs typeface="Corbel"/>
              </a:rPr>
              <a:t>n</a:t>
            </a:r>
            <a:r>
              <a:rPr lang="it-IT" sz="1800" dirty="0">
                <a:latin typeface="Corbel"/>
                <a:cs typeface="Corbel"/>
              </a:rPr>
              <a:t>o</a:t>
            </a:r>
            <a:r>
              <a:rPr lang="it-IT" sz="1800" spc="-125" dirty="0">
                <a:latin typeface="Corbel"/>
                <a:cs typeface="Corbel"/>
              </a:rPr>
              <a:t> </a:t>
            </a:r>
            <a:r>
              <a:rPr lang="it-IT" sz="1800" spc="25" dirty="0">
                <a:latin typeface="Corbel"/>
                <a:cs typeface="Corbel"/>
              </a:rPr>
              <a:t>f</a:t>
            </a:r>
            <a:r>
              <a:rPr lang="it-IT" sz="1800" dirty="0">
                <a:latin typeface="Corbel"/>
                <a:cs typeface="Corbel"/>
              </a:rPr>
              <a:t>ra</a:t>
            </a:r>
            <a:r>
              <a:rPr lang="it-IT" sz="1800" spc="-55" dirty="0">
                <a:latin typeface="Corbel"/>
                <a:cs typeface="Corbel"/>
              </a:rPr>
              <a:t> </a:t>
            </a:r>
            <a:r>
              <a:rPr lang="it-IT" sz="1800" spc="15" dirty="0">
                <a:latin typeface="Corbel"/>
                <a:cs typeface="Corbel"/>
              </a:rPr>
              <a:t>g</a:t>
            </a:r>
            <a:r>
              <a:rPr lang="it-IT" sz="1800" spc="30" dirty="0">
                <a:latin typeface="Corbel"/>
                <a:cs typeface="Corbel"/>
              </a:rPr>
              <a:t>l</a:t>
            </a:r>
            <a:r>
              <a:rPr lang="it-IT" sz="1800" dirty="0">
                <a:latin typeface="Corbel"/>
                <a:cs typeface="Corbel"/>
              </a:rPr>
              <a:t>i</a:t>
            </a:r>
            <a:r>
              <a:rPr lang="it-IT" sz="1800" spc="-35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a</a:t>
            </a:r>
            <a:r>
              <a:rPr lang="it-IT" sz="1800" spc="-30" dirty="0">
                <a:latin typeface="Corbel"/>
                <a:cs typeface="Corbel"/>
              </a:rPr>
              <a:t>tt</a:t>
            </a:r>
            <a:r>
              <a:rPr lang="it-IT" sz="1800" dirty="0">
                <a:latin typeface="Corbel"/>
                <a:cs typeface="Corbel"/>
              </a:rPr>
              <a:t>r</a:t>
            </a:r>
            <a:r>
              <a:rPr lang="it-IT" sz="1800" spc="25" dirty="0">
                <a:latin typeface="Corbel"/>
                <a:cs typeface="Corbel"/>
              </a:rPr>
              <a:t>i</a:t>
            </a:r>
            <a:r>
              <a:rPr lang="it-IT" sz="1800" spc="5" dirty="0">
                <a:latin typeface="Corbel"/>
                <a:cs typeface="Corbel"/>
              </a:rPr>
              <a:t>b</a:t>
            </a:r>
            <a:r>
              <a:rPr lang="it-IT" sz="1800" spc="-35" dirty="0">
                <a:latin typeface="Corbel"/>
                <a:cs typeface="Corbel"/>
              </a:rPr>
              <a:t>u</a:t>
            </a:r>
            <a:r>
              <a:rPr lang="it-IT" sz="1800" spc="-30" dirty="0">
                <a:latin typeface="Corbel"/>
                <a:cs typeface="Corbel"/>
              </a:rPr>
              <a:t>t</a:t>
            </a:r>
            <a:r>
              <a:rPr lang="it-IT" sz="1800" dirty="0">
                <a:latin typeface="Corbel"/>
                <a:cs typeface="Corbel"/>
              </a:rPr>
              <a:t>i</a:t>
            </a:r>
            <a:r>
              <a:rPr lang="it-IT" sz="1800" spc="40" dirty="0">
                <a:latin typeface="Corbel"/>
                <a:cs typeface="Corbel"/>
              </a:rPr>
              <a:t> </a:t>
            </a:r>
            <a:r>
              <a:rPr lang="it-IT" sz="1800" spc="5" dirty="0">
                <a:latin typeface="Corbel"/>
                <a:cs typeface="Corbel"/>
              </a:rPr>
              <a:t>d</a:t>
            </a:r>
            <a:r>
              <a:rPr lang="it-IT" sz="1800" dirty="0">
                <a:latin typeface="Corbel"/>
                <a:cs typeface="Corbel"/>
              </a:rPr>
              <a:t>e</a:t>
            </a:r>
            <a:r>
              <a:rPr lang="it-IT" sz="1800" spc="30" dirty="0">
                <a:latin typeface="Corbel"/>
                <a:cs typeface="Corbel"/>
              </a:rPr>
              <a:t>ll</a:t>
            </a:r>
            <a:r>
              <a:rPr lang="it-IT" sz="1800" spc="20" dirty="0">
                <a:latin typeface="Corbel"/>
                <a:cs typeface="Corbel"/>
              </a:rPr>
              <a:t>'</a:t>
            </a:r>
            <a:r>
              <a:rPr lang="it-IT" sz="1800" dirty="0">
                <a:latin typeface="Corbel"/>
                <a:cs typeface="Corbel"/>
              </a:rPr>
              <a:t>e</a:t>
            </a:r>
            <a:r>
              <a:rPr lang="it-IT" sz="1800" spc="25" dirty="0">
                <a:latin typeface="Corbel"/>
                <a:cs typeface="Corbel"/>
              </a:rPr>
              <a:t>n</a:t>
            </a:r>
            <a:r>
              <a:rPr lang="it-IT" sz="1800" spc="-30" dirty="0">
                <a:latin typeface="Corbel"/>
                <a:cs typeface="Corbel"/>
              </a:rPr>
              <a:t>t</a:t>
            </a:r>
            <a:r>
              <a:rPr lang="it-IT" sz="1800" spc="30" dirty="0">
                <a:latin typeface="Corbel"/>
                <a:cs typeface="Corbel"/>
              </a:rPr>
              <a:t>i</a:t>
            </a:r>
            <a:r>
              <a:rPr lang="it-IT" sz="1800" spc="-30" dirty="0">
                <a:latin typeface="Corbel"/>
                <a:cs typeface="Corbel"/>
              </a:rPr>
              <a:t>t</a:t>
            </a:r>
            <a:r>
              <a:rPr lang="it-IT" sz="1800" spc="10" dirty="0">
                <a:latin typeface="Corbel"/>
                <a:cs typeface="Corbel"/>
              </a:rPr>
              <a:t>à</a:t>
            </a:r>
            <a:r>
              <a:rPr lang="it-IT" sz="1800" dirty="0">
                <a:latin typeface="Corbel"/>
                <a:cs typeface="Corbel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  <a:tabLst>
                <a:tab pos="5006975" algn="l"/>
              </a:tabLst>
            </a:pPr>
            <a:r>
              <a:rPr lang="it-IT" sz="1800" dirty="0">
                <a:latin typeface="Corbel"/>
                <a:cs typeface="Corbel"/>
              </a:rPr>
              <a:t>Esiste</a:t>
            </a:r>
            <a:r>
              <a:rPr lang="it-IT" sz="1800" spc="-45" dirty="0">
                <a:latin typeface="Corbel"/>
                <a:cs typeface="Corbel"/>
              </a:rPr>
              <a:t> </a:t>
            </a:r>
            <a:r>
              <a:rPr lang="it-IT" sz="1800" spc="-5" dirty="0">
                <a:latin typeface="Corbel"/>
                <a:cs typeface="Corbel"/>
              </a:rPr>
              <a:t>una</a:t>
            </a:r>
            <a:r>
              <a:rPr lang="it-IT" sz="1800" spc="50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dipendenza</a:t>
            </a:r>
            <a:r>
              <a:rPr lang="it-IT" sz="1800" spc="-114" dirty="0">
                <a:latin typeface="Corbel"/>
                <a:cs typeface="Corbel"/>
              </a:rPr>
              <a:t> </a:t>
            </a:r>
            <a:r>
              <a:rPr lang="it-IT" sz="1800" spc="10" dirty="0">
                <a:latin typeface="Corbel"/>
                <a:cs typeface="Corbel"/>
              </a:rPr>
              <a:t>funzionale</a:t>
            </a:r>
            <a:r>
              <a:rPr lang="it-IT" sz="1800" spc="-65" dirty="0">
                <a:latin typeface="Corbel"/>
                <a:cs typeface="Corbel"/>
              </a:rPr>
              <a:t> </a:t>
            </a:r>
            <a:r>
              <a:rPr lang="it-IT" sz="1800" spc="5" dirty="0" err="1">
                <a:latin typeface="Corbel"/>
                <a:cs typeface="Corbel"/>
              </a:rPr>
              <a:t>CasaEditrice</a:t>
            </a:r>
            <a:r>
              <a:rPr lang="it-IT" sz="1800" spc="5" dirty="0">
                <a:latin typeface="Corbel"/>
                <a:cs typeface="Corbel"/>
              </a:rPr>
              <a:t>	</a:t>
            </a:r>
            <a:r>
              <a:rPr lang="it-IT" sz="1800" dirty="0" err="1">
                <a:latin typeface="Corbel"/>
                <a:cs typeface="Corbel"/>
              </a:rPr>
              <a:t>SedeCasaEditrice</a:t>
            </a:r>
            <a:endParaRPr lang="it-IT" sz="1800" dirty="0">
              <a:latin typeface="Corbel"/>
              <a:cs typeface="Corbel"/>
            </a:endParaRP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2A78BF97-B3A8-A715-291C-241CC3B54784}"/>
              </a:ext>
            </a:extLst>
          </p:cNvPr>
          <p:cNvCxnSpPr/>
          <p:nvPr/>
        </p:nvCxnSpPr>
        <p:spPr>
          <a:xfrm>
            <a:off x="5270015" y="3099188"/>
            <a:ext cx="4188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magine 9">
            <a:extLst>
              <a:ext uri="{FF2B5EF4-FFF2-40B4-BE49-F238E27FC236}">
                <a16:creationId xmlns:a16="http://schemas.microsoft.com/office/drawing/2014/main" id="{694DBED4-F47D-5E3D-0D93-8AD59ADB5BE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70107" y="3927899"/>
            <a:ext cx="3599815" cy="108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632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5B1D55-9380-CFD6-FB22-E9CF3827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7206" y="3559628"/>
            <a:ext cx="8596668" cy="1320800"/>
          </a:xfrm>
        </p:spPr>
        <p:txBody>
          <a:bodyPr/>
          <a:lstStyle/>
          <a:p>
            <a:r>
              <a:rPr lang="it-IT" dirty="0"/>
              <a:t>Progettazione </a:t>
            </a:r>
            <a:br>
              <a:rPr lang="it-IT" dirty="0"/>
            </a:br>
            <a:r>
              <a:rPr lang="it-IT" dirty="0"/>
              <a:t>Concettuale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A62E35F-B9F7-73B3-B906-DB1AECAFF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60" y="-22847"/>
            <a:ext cx="6746694" cy="690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8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20B7876C-502B-56B2-2F75-409875AFE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669" y="0"/>
            <a:ext cx="8596668" cy="1320800"/>
          </a:xfrm>
        </p:spPr>
        <p:txBody>
          <a:bodyPr/>
          <a:lstStyle/>
          <a:p>
            <a:r>
              <a:rPr lang="it-IT" dirty="0"/>
              <a:t>Dizionario dei Dati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B4491F4-EBA2-69AF-503C-62EDB373D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60" y="535399"/>
            <a:ext cx="3759393" cy="5131064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7306A854-51E8-60C4-CC29-60AB2BCEE8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20"/>
          <a:stretch/>
        </p:blipFill>
        <p:spPr>
          <a:xfrm>
            <a:off x="502859" y="5582703"/>
            <a:ext cx="3759393" cy="1074618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C0D84083-D068-414A-60B5-062E566B5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954" y="584261"/>
            <a:ext cx="3511730" cy="4045158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180E5205-0465-99E4-58F2-9EA37EE91E2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27"/>
          <a:stretch/>
        </p:blipFill>
        <p:spPr>
          <a:xfrm>
            <a:off x="4959954" y="4629419"/>
            <a:ext cx="3511730" cy="211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08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044ECD-73CB-54F4-9A42-2E893A933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Progettazione logica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18595C-B1D0-6AC1-B225-737DAF5FA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Essa si</a:t>
            </a:r>
            <a:r>
              <a:rPr lang="it-IT" sz="1800" spc="-4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5" dirty="0">
                <a:solidFill>
                  <a:schemeClr val="tx1"/>
                </a:solidFill>
                <a:latin typeface="Corbel"/>
                <a:cs typeface="Corbel"/>
              </a:rPr>
              <a:t>suddivide</a:t>
            </a:r>
            <a:r>
              <a:rPr lang="it-IT" sz="1800" spc="-6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15" dirty="0">
                <a:solidFill>
                  <a:schemeClr val="tx1"/>
                </a:solidFill>
                <a:latin typeface="Corbel"/>
                <a:cs typeface="Corbel"/>
              </a:rPr>
              <a:t>in</a:t>
            </a:r>
            <a:r>
              <a:rPr lang="it-IT" sz="1800" spc="-4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due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15" dirty="0">
                <a:solidFill>
                  <a:schemeClr val="tx1"/>
                </a:solidFill>
                <a:latin typeface="Corbel"/>
                <a:cs typeface="Corbel"/>
              </a:rPr>
              <a:t>fasi: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sz="1600" spc="15" dirty="0">
                <a:solidFill>
                  <a:schemeClr val="tx1"/>
                </a:solidFill>
                <a:latin typeface="Corbel"/>
                <a:cs typeface="Corbel"/>
              </a:rPr>
              <a:t>Ristrutturazione dello </a:t>
            </a:r>
            <a:r>
              <a:rPr lang="it-IT" sz="1600" spc="10" dirty="0">
                <a:solidFill>
                  <a:schemeClr val="tx1"/>
                </a:solidFill>
                <a:latin typeface="Corbel"/>
                <a:cs typeface="Corbel"/>
              </a:rPr>
              <a:t>schema </a:t>
            </a:r>
            <a:r>
              <a:rPr lang="it-IT" sz="1600" spc="5" dirty="0">
                <a:solidFill>
                  <a:schemeClr val="tx1"/>
                </a:solidFill>
                <a:latin typeface="Corbel"/>
                <a:cs typeface="Corbel"/>
              </a:rPr>
              <a:t>Entità-Relazione: si basa </a:t>
            </a:r>
            <a:r>
              <a:rPr lang="it-IT" sz="1600" spc="-10" dirty="0">
                <a:solidFill>
                  <a:schemeClr val="tx1"/>
                </a:solidFill>
                <a:latin typeface="Corbel"/>
                <a:cs typeface="Corbel"/>
              </a:rPr>
              <a:t>sui 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criteri di </a:t>
            </a:r>
            <a:r>
              <a:rPr lang="it-IT" sz="1600" spc="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10" dirty="0">
                <a:solidFill>
                  <a:schemeClr val="tx1"/>
                </a:solidFill>
                <a:latin typeface="Corbel"/>
                <a:cs typeface="Corbel"/>
              </a:rPr>
              <a:t>ottimizzazione</a:t>
            </a:r>
            <a:r>
              <a:rPr lang="it-IT" sz="1600" spc="-13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15" dirty="0">
                <a:solidFill>
                  <a:schemeClr val="tx1"/>
                </a:solidFill>
                <a:latin typeface="Corbel"/>
                <a:cs typeface="Corbel"/>
              </a:rPr>
              <a:t>dello</a:t>
            </a:r>
            <a:r>
              <a:rPr lang="it-IT" sz="1600" spc="-12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10" dirty="0">
                <a:solidFill>
                  <a:schemeClr val="tx1"/>
                </a:solidFill>
                <a:latin typeface="Corbel"/>
                <a:cs typeface="Corbel"/>
              </a:rPr>
              <a:t>schema</a:t>
            </a:r>
            <a:r>
              <a:rPr lang="it-IT" sz="1600" spc="-114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e</a:t>
            </a:r>
            <a:r>
              <a:rPr lang="it-IT" sz="1600" spc="2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di</a:t>
            </a:r>
            <a:r>
              <a:rPr lang="it-IT" sz="1600" spc="-3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10" dirty="0">
                <a:solidFill>
                  <a:schemeClr val="tx1"/>
                </a:solidFill>
                <a:latin typeface="Corbel"/>
                <a:cs typeface="Corbel"/>
              </a:rPr>
              <a:t>semplificazione</a:t>
            </a:r>
            <a:r>
              <a:rPr lang="it-IT" sz="1600" spc="-12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15" dirty="0">
                <a:solidFill>
                  <a:schemeClr val="tx1"/>
                </a:solidFill>
                <a:latin typeface="Corbel"/>
                <a:cs typeface="Corbel"/>
              </a:rPr>
              <a:t>della</a:t>
            </a:r>
            <a:r>
              <a:rPr lang="it-IT" sz="1600" spc="-114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15" dirty="0">
                <a:solidFill>
                  <a:schemeClr val="tx1"/>
                </a:solidFill>
                <a:latin typeface="Corbel"/>
                <a:cs typeface="Corbel"/>
              </a:rPr>
              <a:t>fase</a:t>
            </a:r>
            <a:r>
              <a:rPr lang="it-IT" sz="1600" spc="-5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10" dirty="0">
                <a:solidFill>
                  <a:schemeClr val="tx1"/>
                </a:solidFill>
                <a:latin typeface="Corbel"/>
                <a:cs typeface="Corbel"/>
              </a:rPr>
              <a:t>successiva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sz="1600" spc="5" dirty="0">
                <a:solidFill>
                  <a:schemeClr val="tx1"/>
                </a:solidFill>
                <a:latin typeface="Corbel"/>
                <a:cs typeface="Corbel"/>
              </a:rPr>
              <a:t>Traduzione verso</a:t>
            </a:r>
            <a:r>
              <a:rPr lang="it-IT" sz="1600" spc="3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15" dirty="0">
                <a:solidFill>
                  <a:schemeClr val="tx1"/>
                </a:solidFill>
                <a:latin typeface="Corbel"/>
                <a:cs typeface="Corbel"/>
              </a:rPr>
              <a:t>il</a:t>
            </a:r>
            <a:r>
              <a:rPr lang="it-IT" sz="1600" spc="-3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10" dirty="0">
                <a:solidFill>
                  <a:schemeClr val="tx1"/>
                </a:solidFill>
                <a:latin typeface="Corbel"/>
                <a:cs typeface="Corbel"/>
              </a:rPr>
              <a:t>modello</a:t>
            </a:r>
            <a:r>
              <a:rPr lang="it-IT" sz="1600" spc="-12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15" dirty="0">
                <a:solidFill>
                  <a:schemeClr val="tx1"/>
                </a:solidFill>
                <a:latin typeface="Corbel"/>
                <a:cs typeface="Corbel"/>
              </a:rPr>
              <a:t>logico:</a:t>
            </a:r>
            <a:r>
              <a:rPr lang="it-IT" sz="1600" spc="-16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a</a:t>
            </a:r>
            <a:r>
              <a:rPr lang="it-IT" sz="1600" spc="3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5" dirty="0">
                <a:solidFill>
                  <a:schemeClr val="tx1"/>
                </a:solidFill>
                <a:latin typeface="Corbel"/>
                <a:cs typeface="Corbel"/>
              </a:rPr>
              <a:t>partire</a:t>
            </a:r>
            <a:r>
              <a:rPr lang="it-IT" sz="1600" spc="-5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15" dirty="0">
                <a:solidFill>
                  <a:schemeClr val="tx1"/>
                </a:solidFill>
                <a:latin typeface="Corbel"/>
                <a:cs typeface="Corbel"/>
              </a:rPr>
              <a:t>dallo</a:t>
            </a:r>
            <a:r>
              <a:rPr lang="it-IT" sz="1600" spc="-12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10" dirty="0">
                <a:solidFill>
                  <a:schemeClr val="tx1"/>
                </a:solidFill>
                <a:latin typeface="Corbel"/>
                <a:cs typeface="Corbel"/>
              </a:rPr>
              <a:t>schema</a:t>
            </a:r>
            <a:r>
              <a:rPr lang="it-IT" sz="1600" spc="-4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risultante </a:t>
            </a:r>
            <a:r>
              <a:rPr lang="it-IT" sz="1600" spc="-34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5" dirty="0">
                <a:solidFill>
                  <a:schemeClr val="tx1"/>
                </a:solidFill>
                <a:latin typeface="Corbel"/>
                <a:cs typeface="Corbel"/>
              </a:rPr>
              <a:t>d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e</a:t>
            </a:r>
            <a:r>
              <a:rPr lang="it-IT" sz="1600" spc="35" dirty="0">
                <a:solidFill>
                  <a:schemeClr val="tx1"/>
                </a:solidFill>
                <a:latin typeface="Corbel"/>
                <a:cs typeface="Corbel"/>
              </a:rPr>
              <a:t>l</a:t>
            </a:r>
            <a:r>
              <a:rPr lang="it-IT" sz="1600" spc="30" dirty="0">
                <a:solidFill>
                  <a:schemeClr val="tx1"/>
                </a:solidFill>
                <a:latin typeface="Corbel"/>
                <a:cs typeface="Corbel"/>
              </a:rPr>
              <a:t>l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a</a:t>
            </a:r>
            <a:r>
              <a:rPr lang="it-IT" sz="1600" spc="-12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15" dirty="0">
                <a:solidFill>
                  <a:schemeClr val="tx1"/>
                </a:solidFill>
                <a:latin typeface="Corbel"/>
                <a:cs typeface="Corbel"/>
              </a:rPr>
              <a:t>p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r</a:t>
            </a:r>
            <a:r>
              <a:rPr lang="it-IT" sz="1600" spc="25" dirty="0">
                <a:solidFill>
                  <a:schemeClr val="tx1"/>
                </a:solidFill>
                <a:latin typeface="Corbel"/>
                <a:cs typeface="Corbel"/>
              </a:rPr>
              <a:t>i</a:t>
            </a:r>
            <a:r>
              <a:rPr lang="it-IT" sz="1600" spc="5" dirty="0">
                <a:solidFill>
                  <a:schemeClr val="tx1"/>
                </a:solidFill>
                <a:latin typeface="Corbel"/>
                <a:cs typeface="Corbel"/>
              </a:rPr>
              <a:t>m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a</a:t>
            </a:r>
            <a:r>
              <a:rPr lang="it-IT" sz="1600" spc="-4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25" dirty="0">
                <a:solidFill>
                  <a:schemeClr val="tx1"/>
                </a:solidFill>
                <a:latin typeface="Corbel"/>
                <a:cs typeface="Corbel"/>
              </a:rPr>
              <a:t>f</a:t>
            </a:r>
            <a:r>
              <a:rPr lang="it-IT" sz="1600" spc="15" dirty="0">
                <a:solidFill>
                  <a:schemeClr val="tx1"/>
                </a:solidFill>
                <a:latin typeface="Corbel"/>
                <a:cs typeface="Corbel"/>
              </a:rPr>
              <a:t>a</a:t>
            </a:r>
            <a:r>
              <a:rPr lang="it-IT" sz="1600" spc="20" dirty="0">
                <a:solidFill>
                  <a:schemeClr val="tx1"/>
                </a:solidFill>
                <a:latin typeface="Corbel"/>
                <a:cs typeface="Corbel"/>
              </a:rPr>
              <a:t>s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e</a:t>
            </a:r>
            <a:r>
              <a:rPr lang="it-IT" sz="1600" spc="-5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20" dirty="0">
                <a:solidFill>
                  <a:schemeClr val="tx1"/>
                </a:solidFill>
                <a:latin typeface="Corbel"/>
                <a:cs typeface="Corbel"/>
              </a:rPr>
              <a:t>s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i</a:t>
            </a:r>
            <a:r>
              <a:rPr lang="it-IT" sz="1600" spc="-3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35" dirty="0">
                <a:solidFill>
                  <a:schemeClr val="tx1"/>
                </a:solidFill>
                <a:latin typeface="Corbel"/>
                <a:cs typeface="Corbel"/>
              </a:rPr>
              <a:t>c</a:t>
            </a:r>
            <a:r>
              <a:rPr lang="it-IT" sz="1600" spc="10" dirty="0">
                <a:solidFill>
                  <a:schemeClr val="tx1"/>
                </a:solidFill>
                <a:latin typeface="Corbel"/>
                <a:cs typeface="Corbel"/>
              </a:rPr>
              <a:t>o</a:t>
            </a:r>
            <a:r>
              <a:rPr lang="it-IT" sz="1600" spc="20" dirty="0">
                <a:solidFill>
                  <a:schemeClr val="tx1"/>
                </a:solidFill>
                <a:latin typeface="Corbel"/>
                <a:cs typeface="Corbel"/>
              </a:rPr>
              <a:t>s</a:t>
            </a:r>
            <a:r>
              <a:rPr lang="it-IT" sz="1600" spc="-25" dirty="0">
                <a:solidFill>
                  <a:schemeClr val="tx1"/>
                </a:solidFill>
                <a:latin typeface="Corbel"/>
                <a:cs typeface="Corbel"/>
              </a:rPr>
              <a:t>t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r</a:t>
            </a:r>
            <a:r>
              <a:rPr lang="it-IT" sz="1600" spc="-35" dirty="0">
                <a:solidFill>
                  <a:schemeClr val="tx1"/>
                </a:solidFill>
                <a:latin typeface="Corbel"/>
                <a:cs typeface="Corbel"/>
              </a:rPr>
              <a:t>u</a:t>
            </a:r>
            <a:r>
              <a:rPr lang="it-IT" sz="1600" spc="30" dirty="0">
                <a:solidFill>
                  <a:schemeClr val="tx1"/>
                </a:solidFill>
                <a:latin typeface="Corbel"/>
                <a:cs typeface="Corbel"/>
              </a:rPr>
              <a:t>i</a:t>
            </a:r>
            <a:r>
              <a:rPr lang="it-IT" sz="1600" spc="20" dirty="0">
                <a:solidFill>
                  <a:schemeClr val="tx1"/>
                </a:solidFill>
                <a:latin typeface="Corbel"/>
                <a:cs typeface="Corbel"/>
              </a:rPr>
              <a:t>s</a:t>
            </a:r>
            <a:r>
              <a:rPr lang="it-IT" sz="1600" spc="35" dirty="0">
                <a:solidFill>
                  <a:schemeClr val="tx1"/>
                </a:solidFill>
                <a:latin typeface="Corbel"/>
                <a:cs typeface="Corbel"/>
              </a:rPr>
              <a:t>c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e</a:t>
            </a:r>
            <a:r>
              <a:rPr lang="it-IT" sz="1600" spc="-13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-30" dirty="0">
                <a:solidFill>
                  <a:schemeClr val="tx1"/>
                </a:solidFill>
                <a:latin typeface="Corbel"/>
                <a:cs typeface="Corbel"/>
              </a:rPr>
              <a:t>u</a:t>
            </a:r>
            <a:r>
              <a:rPr lang="it-IT" sz="1600" spc="20" dirty="0">
                <a:solidFill>
                  <a:schemeClr val="tx1"/>
                </a:solidFill>
                <a:latin typeface="Corbel"/>
                <a:cs typeface="Corbel"/>
              </a:rPr>
              <a:t>n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o</a:t>
            </a:r>
            <a:r>
              <a:rPr lang="it-IT" sz="1600" spc="2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20" dirty="0">
                <a:solidFill>
                  <a:schemeClr val="tx1"/>
                </a:solidFill>
                <a:latin typeface="Corbel"/>
                <a:cs typeface="Corbel"/>
              </a:rPr>
              <a:t>s</a:t>
            </a:r>
            <a:r>
              <a:rPr lang="it-IT" sz="1600" spc="35" dirty="0">
                <a:solidFill>
                  <a:schemeClr val="tx1"/>
                </a:solidFill>
                <a:latin typeface="Corbel"/>
                <a:cs typeface="Corbel"/>
              </a:rPr>
              <a:t>c</a:t>
            </a:r>
            <a:r>
              <a:rPr lang="it-IT" sz="1600" spc="15" dirty="0">
                <a:solidFill>
                  <a:schemeClr val="tx1"/>
                </a:solidFill>
                <a:latin typeface="Corbel"/>
                <a:cs typeface="Corbel"/>
              </a:rPr>
              <a:t>h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e</a:t>
            </a:r>
            <a:r>
              <a:rPr lang="it-IT" sz="1600" spc="10" dirty="0">
                <a:solidFill>
                  <a:schemeClr val="tx1"/>
                </a:solidFill>
                <a:latin typeface="Corbel"/>
                <a:cs typeface="Corbel"/>
              </a:rPr>
              <a:t>m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a</a:t>
            </a:r>
            <a:r>
              <a:rPr lang="it-IT" sz="1600" spc="-4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spc="30" dirty="0">
                <a:solidFill>
                  <a:schemeClr val="tx1"/>
                </a:solidFill>
                <a:latin typeface="Corbel"/>
                <a:cs typeface="Corbel"/>
              </a:rPr>
              <a:t>l</a:t>
            </a:r>
            <a:r>
              <a:rPr lang="it-IT" sz="1600" spc="10" dirty="0">
                <a:solidFill>
                  <a:schemeClr val="tx1"/>
                </a:solidFill>
                <a:latin typeface="Corbel"/>
                <a:cs typeface="Corbel"/>
              </a:rPr>
              <a:t>o</a:t>
            </a:r>
            <a:r>
              <a:rPr lang="it-IT" sz="1600" spc="15" dirty="0">
                <a:solidFill>
                  <a:schemeClr val="tx1"/>
                </a:solidFill>
                <a:latin typeface="Corbel"/>
                <a:cs typeface="Corbel"/>
              </a:rPr>
              <a:t>g</a:t>
            </a:r>
            <a:r>
              <a:rPr lang="it-IT" sz="1600" spc="30" dirty="0">
                <a:solidFill>
                  <a:schemeClr val="tx1"/>
                </a:solidFill>
                <a:latin typeface="Corbel"/>
                <a:cs typeface="Corbel"/>
              </a:rPr>
              <a:t>i</a:t>
            </a:r>
            <a:r>
              <a:rPr lang="it-IT" sz="1600" spc="35" dirty="0">
                <a:solidFill>
                  <a:schemeClr val="tx1"/>
                </a:solidFill>
                <a:latin typeface="Corbel"/>
                <a:cs typeface="Corbel"/>
              </a:rPr>
              <a:t>c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o</a:t>
            </a:r>
            <a:r>
              <a:rPr lang="it-IT" sz="1600" spc="-12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e</a:t>
            </a:r>
            <a:r>
              <a:rPr lang="it-IT" sz="1600" spc="35" dirty="0">
                <a:solidFill>
                  <a:schemeClr val="tx1"/>
                </a:solidFill>
                <a:latin typeface="Corbel"/>
                <a:cs typeface="Corbel"/>
              </a:rPr>
              <a:t>q</a:t>
            </a:r>
            <a:r>
              <a:rPr lang="it-IT" sz="1600" spc="-30" dirty="0">
                <a:solidFill>
                  <a:schemeClr val="tx1"/>
                </a:solidFill>
                <a:latin typeface="Corbel"/>
                <a:cs typeface="Corbel"/>
              </a:rPr>
              <a:t>u</a:t>
            </a:r>
            <a:r>
              <a:rPr lang="it-IT" sz="1600" spc="30" dirty="0">
                <a:solidFill>
                  <a:schemeClr val="tx1"/>
                </a:solidFill>
                <a:latin typeface="Corbel"/>
                <a:cs typeface="Corbel"/>
              </a:rPr>
              <a:t>i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v</a:t>
            </a:r>
            <a:r>
              <a:rPr lang="it-IT" sz="1600" spc="10" dirty="0">
                <a:solidFill>
                  <a:schemeClr val="tx1"/>
                </a:solidFill>
                <a:latin typeface="Corbel"/>
                <a:cs typeface="Corbel"/>
              </a:rPr>
              <a:t>a</a:t>
            </a:r>
            <a:r>
              <a:rPr lang="it-IT" sz="1600" spc="30" dirty="0">
                <a:solidFill>
                  <a:schemeClr val="tx1"/>
                </a:solidFill>
                <a:latin typeface="Corbel"/>
                <a:cs typeface="Corbel"/>
              </a:rPr>
              <a:t>l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e</a:t>
            </a:r>
            <a:r>
              <a:rPr lang="it-IT" sz="1600" spc="30" dirty="0">
                <a:solidFill>
                  <a:schemeClr val="tx1"/>
                </a:solidFill>
                <a:latin typeface="Corbel"/>
                <a:cs typeface="Corbel"/>
              </a:rPr>
              <a:t>n</a:t>
            </a:r>
            <a:r>
              <a:rPr lang="it-IT" sz="1600" spc="-25" dirty="0">
                <a:solidFill>
                  <a:schemeClr val="tx1"/>
                </a:solidFill>
                <a:latin typeface="Corbel"/>
                <a:cs typeface="Corbel"/>
              </a:rPr>
              <a:t>t</a:t>
            </a:r>
            <a:r>
              <a:rPr lang="it-IT" sz="1600" dirty="0">
                <a:solidFill>
                  <a:schemeClr val="tx1"/>
                </a:solidFill>
                <a:latin typeface="Corbel"/>
                <a:cs typeface="Corbel"/>
              </a:rPr>
              <a:t>e.</a:t>
            </a:r>
            <a:endParaRPr lang="it-IT" dirty="0">
              <a:solidFill>
                <a:schemeClr val="tx1"/>
              </a:solidFill>
              <a:latin typeface="Corbel"/>
              <a:cs typeface="Corbel"/>
            </a:endParaRPr>
          </a:p>
          <a:p>
            <a:pPr marL="0" indent="0">
              <a:buNone/>
            </a:pP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021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F490BD-7A14-73C8-BEDD-5989259F9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62" y="772561"/>
            <a:ext cx="8596668" cy="119513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Sostituzione della</a:t>
            </a:r>
            <a:r>
              <a:rPr lang="it-IT" sz="1800" spc="6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generalizzazione</a:t>
            </a:r>
            <a:r>
              <a:rPr lang="it-IT" sz="1800" spc="4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con</a:t>
            </a:r>
            <a:r>
              <a:rPr lang="it-IT" sz="1800" spc="-2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associazioni.</a:t>
            </a:r>
            <a:r>
              <a:rPr lang="it-IT" sz="1800" spc="8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La </a:t>
            </a:r>
            <a:r>
              <a:rPr lang="it-IT" sz="1800" spc="1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generalizzazione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si </a:t>
            </a:r>
            <a:r>
              <a:rPr lang="it-IT" sz="1800" spc="5" dirty="0">
                <a:solidFill>
                  <a:schemeClr val="tx1"/>
                </a:solidFill>
                <a:latin typeface="Corbel"/>
                <a:cs typeface="Corbel"/>
              </a:rPr>
              <a:t>trasforma </a:t>
            </a:r>
            <a:r>
              <a:rPr lang="it-IT" sz="1800" spc="-20" dirty="0">
                <a:solidFill>
                  <a:schemeClr val="tx1"/>
                </a:solidFill>
                <a:latin typeface="Corbel"/>
                <a:cs typeface="Corbel"/>
              </a:rPr>
              <a:t>in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associazioni 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uno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a 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uno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che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 legano</a:t>
            </a:r>
            <a:r>
              <a:rPr lang="it-IT" sz="1800" spc="-3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rispettivamente</a:t>
            </a:r>
            <a:r>
              <a:rPr lang="it-IT" sz="1800" spc="5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l'entità</a:t>
            </a:r>
            <a:r>
              <a:rPr lang="it-IT" sz="1800" spc="6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genitore</a:t>
            </a:r>
            <a:r>
              <a:rPr lang="it-IT" sz="1800" spc="5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con</a:t>
            </a:r>
            <a:r>
              <a:rPr lang="it-IT" sz="1800" spc="-20" dirty="0">
                <a:solidFill>
                  <a:schemeClr val="tx1"/>
                </a:solidFill>
                <a:latin typeface="Corbel"/>
                <a:cs typeface="Corbel"/>
              </a:rPr>
              <a:t> le</a:t>
            </a:r>
            <a:r>
              <a:rPr lang="it-IT" sz="1800" spc="5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entità </a:t>
            </a:r>
            <a:r>
              <a:rPr lang="it-IT" sz="1800" spc="-20" dirty="0">
                <a:solidFill>
                  <a:schemeClr val="tx1"/>
                </a:solidFill>
                <a:latin typeface="Corbel"/>
                <a:cs typeface="Corbel"/>
              </a:rPr>
              <a:t>figlie. </a:t>
            </a: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Non</a:t>
            </a:r>
            <a:r>
              <a:rPr lang="it-IT" sz="1800" spc="-3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ci</a:t>
            </a:r>
            <a:r>
              <a:rPr lang="it-IT" sz="1800" spc="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sono</a:t>
            </a:r>
            <a:r>
              <a:rPr lang="it-IT" sz="1800" spc="-3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trasferimenti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di</a:t>
            </a:r>
            <a:r>
              <a:rPr lang="it-IT" sz="1800" spc="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attribuiti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15" dirty="0">
                <a:solidFill>
                  <a:schemeClr val="tx1"/>
                </a:solidFill>
                <a:latin typeface="Corbel"/>
                <a:cs typeface="Corbel"/>
              </a:rPr>
              <a:t>ma</a:t>
            </a:r>
            <a:r>
              <a:rPr lang="it-IT" sz="1800" spc="-9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20" dirty="0">
                <a:solidFill>
                  <a:schemeClr val="tx1"/>
                </a:solidFill>
                <a:latin typeface="Corbel"/>
                <a:cs typeface="Corbel"/>
              </a:rPr>
              <a:t>le</a:t>
            </a:r>
            <a:r>
              <a:rPr lang="it-IT" sz="1800" spc="5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entità</a:t>
            </a:r>
            <a:r>
              <a:rPr lang="it-IT" sz="1800" spc="6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20" dirty="0">
                <a:solidFill>
                  <a:schemeClr val="tx1"/>
                </a:solidFill>
                <a:latin typeface="Corbel"/>
                <a:cs typeface="Corbel"/>
              </a:rPr>
              <a:t>figlie</a:t>
            </a:r>
            <a:r>
              <a:rPr lang="it-IT" sz="1800" spc="12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sono </a:t>
            </a:r>
            <a:r>
              <a:rPr lang="it-IT" sz="1800" spc="-46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identificate</a:t>
            </a:r>
            <a:r>
              <a:rPr lang="it-IT" sz="1800" spc="12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5" dirty="0">
                <a:solidFill>
                  <a:schemeClr val="tx1"/>
                </a:solidFill>
                <a:latin typeface="Corbel"/>
                <a:cs typeface="Corbel"/>
              </a:rPr>
              <a:t>esternamente</a:t>
            </a:r>
            <a:r>
              <a:rPr lang="it-IT" sz="1800" spc="-10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dell'entità</a:t>
            </a:r>
            <a:r>
              <a:rPr lang="it-IT" sz="1800" spc="13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genitore.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CCF8D806-861D-8EEF-9238-313D175262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42" y="146613"/>
            <a:ext cx="10116273" cy="533351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60"/>
              </a:spcBef>
            </a:pPr>
            <a:r>
              <a:rPr spc="-5" dirty="0"/>
              <a:t>Ristrutturazione</a:t>
            </a:r>
            <a:r>
              <a:rPr spc="365" dirty="0"/>
              <a:t> </a:t>
            </a:r>
            <a:r>
              <a:rPr spc="-15" dirty="0"/>
              <a:t>dello</a:t>
            </a:r>
            <a:r>
              <a:rPr spc="150" dirty="0"/>
              <a:t> </a:t>
            </a:r>
            <a:r>
              <a:rPr spc="-5" dirty="0"/>
              <a:t>schema </a:t>
            </a:r>
            <a:r>
              <a:rPr spc="-775" dirty="0"/>
              <a:t> </a:t>
            </a:r>
            <a:r>
              <a:rPr spc="-10" dirty="0"/>
              <a:t>Entità-Relazione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CDDCC26-EADB-449F-B74B-7C56A7230E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3"/>
          <a:stretch/>
        </p:blipFill>
        <p:spPr bwMode="auto">
          <a:xfrm>
            <a:off x="1814438" y="2060293"/>
            <a:ext cx="6417945" cy="47415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00601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C5BEBD45-9942-5BE6-9E08-1DE397D92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69" y="149024"/>
            <a:ext cx="6287301" cy="6708976"/>
          </a:xfrm>
          <a:prstGeom prst="rect">
            <a:avLst/>
          </a:prstGeom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BAE93686-E8F0-9EAC-A64A-5F76D3288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687" y="3073400"/>
            <a:ext cx="7128559" cy="1215571"/>
          </a:xfrm>
        </p:spPr>
        <p:txBody>
          <a:bodyPr/>
          <a:lstStyle/>
          <a:p>
            <a:r>
              <a:rPr lang="it-IT" dirty="0"/>
              <a:t>Schema E-R dopo </a:t>
            </a:r>
            <a:br>
              <a:rPr lang="it-IT" dirty="0"/>
            </a:br>
            <a:r>
              <a:rPr lang="it-IT" dirty="0"/>
              <a:t>la ristrutturazione</a:t>
            </a:r>
          </a:p>
        </p:txBody>
      </p:sp>
    </p:spTree>
    <p:extLst>
      <p:ext uri="{BB962C8B-B14F-4D97-AF65-F5344CB8AC3E}">
        <p14:creationId xmlns:p14="http://schemas.microsoft.com/office/powerpoint/2010/main" val="3577029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8689C7-4DD7-229F-9C4E-F955436F2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-51457"/>
            <a:ext cx="8596668" cy="1320800"/>
          </a:xfrm>
        </p:spPr>
        <p:txBody>
          <a:bodyPr/>
          <a:lstStyle/>
          <a:p>
            <a:r>
              <a:rPr lang="it-IT" spc="-20" dirty="0"/>
              <a:t>Traduzione</a:t>
            </a:r>
            <a:r>
              <a:rPr lang="it-IT" spc="130" dirty="0"/>
              <a:t> </a:t>
            </a:r>
            <a:r>
              <a:rPr lang="it-IT" spc="-10" dirty="0"/>
              <a:t>verso</a:t>
            </a:r>
            <a:r>
              <a:rPr lang="it-IT" spc="145" dirty="0"/>
              <a:t> </a:t>
            </a:r>
            <a:r>
              <a:rPr lang="it-IT" spc="-5" dirty="0"/>
              <a:t>il</a:t>
            </a:r>
            <a:r>
              <a:rPr lang="it-IT" spc="-10" dirty="0"/>
              <a:t> </a:t>
            </a:r>
            <a:r>
              <a:rPr lang="it-IT" spc="-5" dirty="0"/>
              <a:t>modello</a:t>
            </a:r>
            <a:r>
              <a:rPr lang="it-IT" spc="215" dirty="0"/>
              <a:t> </a:t>
            </a:r>
            <a:r>
              <a:rPr lang="it-IT" spc="-5" dirty="0"/>
              <a:t>logico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779C0A-4ED2-20C6-209D-BAEB17C95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98014"/>
            <a:ext cx="8596668" cy="6604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La traduzione avviene</a:t>
            </a:r>
            <a:r>
              <a:rPr lang="it-IT" sz="1800" spc="-2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analizzando</a:t>
            </a:r>
            <a:r>
              <a:rPr lang="it-IT" sz="1800" spc="-3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prima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 se</a:t>
            </a:r>
            <a:r>
              <a:rPr lang="it-IT" sz="1800" spc="-2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è</a:t>
            </a: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10" dirty="0">
                <a:solidFill>
                  <a:schemeClr val="tx1"/>
                </a:solidFill>
                <a:latin typeface="Corbel"/>
                <a:cs typeface="Corbel"/>
              </a:rPr>
              <a:t>una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 relazione</a:t>
            </a: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o</a:t>
            </a:r>
            <a:r>
              <a:rPr lang="it-IT" sz="1800" spc="4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entità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e</a:t>
            </a:r>
            <a:r>
              <a:rPr lang="it-IT" sz="1800" spc="5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20" dirty="0">
                <a:solidFill>
                  <a:schemeClr val="tx1"/>
                </a:solidFill>
                <a:latin typeface="Corbel"/>
                <a:cs typeface="Corbel"/>
              </a:rPr>
              <a:t>il</a:t>
            </a:r>
            <a:r>
              <a:rPr lang="it-IT" sz="1800" spc="2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tipo </a:t>
            </a:r>
            <a:r>
              <a:rPr lang="it-IT" sz="1800" spc="-46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di</a:t>
            </a:r>
            <a:r>
              <a:rPr lang="it-IT" sz="1800" spc="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legame</a:t>
            </a:r>
            <a:r>
              <a:rPr lang="it-IT" sz="1800" spc="-2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che</a:t>
            </a:r>
            <a:r>
              <a:rPr lang="it-IT" sz="1800" spc="-3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sussiste</a:t>
            </a:r>
            <a:r>
              <a:rPr lang="it-IT" sz="1800" spc="3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tra</a:t>
            </a: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esse.</a:t>
            </a:r>
            <a:endParaRPr lang="it-IT" dirty="0">
              <a:solidFill>
                <a:schemeClr val="tx1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C7953A8-974F-F4F2-1522-ED50BC922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26" y="1158414"/>
            <a:ext cx="3753043" cy="515011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EB68517-6E09-3B12-2C70-4F5BE13AD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925" y="992768"/>
            <a:ext cx="3797495" cy="531522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A82CF63F-00E5-0654-4013-9528E26BA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6925" y="6307991"/>
            <a:ext cx="3721291" cy="40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0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248D92-41BD-B1A7-37AB-39A193760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507" y="1361936"/>
            <a:ext cx="7065956" cy="388077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progettazione</a:t>
            </a:r>
            <a:r>
              <a:rPr lang="it-IT" sz="1800" spc="-2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fisica</a:t>
            </a:r>
            <a:r>
              <a:rPr lang="it-IT" sz="1800" spc="5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consiste</a:t>
            </a:r>
            <a:r>
              <a:rPr lang="it-IT" sz="1800" spc="4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nella</a:t>
            </a:r>
            <a:r>
              <a:rPr lang="it-IT" sz="1800" spc="6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traduzione</a:t>
            </a:r>
            <a:r>
              <a:rPr lang="it-IT" sz="1800" spc="-2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dello</a:t>
            </a:r>
            <a:r>
              <a:rPr lang="it-IT" sz="1800" spc="3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schema</a:t>
            </a: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 logico</a:t>
            </a:r>
            <a:r>
              <a:rPr lang="it-IT" sz="1800" spc="3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20" dirty="0">
                <a:solidFill>
                  <a:schemeClr val="tx1"/>
                </a:solidFill>
                <a:latin typeface="Corbel"/>
                <a:cs typeface="Corbel"/>
              </a:rPr>
              <a:t>in </a:t>
            </a: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termini</a:t>
            </a:r>
            <a:r>
              <a:rPr lang="it-IT" sz="1800" spc="-6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di</a:t>
            </a:r>
            <a:r>
              <a:rPr lang="it-IT" sz="1800" spc="1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tabelle</a:t>
            </a:r>
            <a:r>
              <a:rPr lang="it-IT" sz="1800" spc="13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e</a:t>
            </a:r>
            <a:r>
              <a:rPr lang="it-IT" sz="1800" spc="-2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relazioni</a:t>
            </a:r>
            <a:r>
              <a:rPr lang="it-IT" sz="1800" spc="1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che</a:t>
            </a:r>
            <a:r>
              <a:rPr lang="it-IT" sz="1800" spc="4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5" dirty="0">
                <a:solidFill>
                  <a:schemeClr val="tx1"/>
                </a:solidFill>
                <a:latin typeface="Corbel"/>
                <a:cs typeface="Corbel"/>
              </a:rPr>
              <a:t>andranno</a:t>
            </a:r>
            <a:r>
              <a:rPr lang="it-IT" sz="1800" spc="-114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a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 costituire</a:t>
            </a:r>
            <a:r>
              <a:rPr lang="it-IT" sz="1800" spc="-20" dirty="0">
                <a:solidFill>
                  <a:schemeClr val="tx1"/>
                </a:solidFill>
                <a:latin typeface="Corbel"/>
                <a:cs typeface="Corbel"/>
              </a:rPr>
              <a:t> la</a:t>
            </a:r>
            <a:r>
              <a:rPr lang="it-IT" sz="1800" spc="6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5" dirty="0">
                <a:solidFill>
                  <a:schemeClr val="tx1"/>
                </a:solidFill>
                <a:latin typeface="Corbel"/>
                <a:cs typeface="Corbel"/>
              </a:rPr>
              <a:t>struttura</a:t>
            </a:r>
            <a:r>
              <a:rPr lang="it-IT" sz="1800" spc="-8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fisica</a:t>
            </a:r>
            <a:r>
              <a:rPr lang="it-IT" sz="1800" spc="6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5" dirty="0">
                <a:solidFill>
                  <a:schemeClr val="tx1"/>
                </a:solidFill>
                <a:latin typeface="Corbel"/>
                <a:cs typeface="Corbel"/>
              </a:rPr>
              <a:t>vera </a:t>
            </a:r>
            <a:r>
              <a:rPr lang="it-IT" sz="1800" spc="-46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e</a:t>
            </a:r>
            <a:r>
              <a:rPr lang="it-IT" sz="1800" spc="-3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5" dirty="0">
                <a:solidFill>
                  <a:schemeClr val="tx1"/>
                </a:solidFill>
                <a:latin typeface="Corbel"/>
                <a:cs typeface="Corbel"/>
              </a:rPr>
              <a:t>propria</a:t>
            </a:r>
            <a:r>
              <a:rPr lang="it-IT" sz="1800" spc="-15" dirty="0">
                <a:solidFill>
                  <a:schemeClr val="tx1"/>
                </a:solidFill>
                <a:latin typeface="Corbel"/>
                <a:cs typeface="Corbel"/>
              </a:rPr>
              <a:t> della</a:t>
            </a:r>
            <a:r>
              <a:rPr lang="it-IT" sz="1800" spc="6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rbel"/>
                <a:cs typeface="Corbel"/>
              </a:rPr>
              <a:t>base</a:t>
            </a:r>
            <a:r>
              <a:rPr lang="it-IT" sz="1800" spc="-3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di</a:t>
            </a:r>
            <a:r>
              <a:rPr lang="it-IT" sz="1800" spc="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lang="it-IT" sz="1800" spc="-10" dirty="0">
                <a:solidFill>
                  <a:schemeClr val="tx1"/>
                </a:solidFill>
                <a:latin typeface="Corbel"/>
                <a:cs typeface="Corbel"/>
              </a:rPr>
              <a:t>dati.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AC34E7E-5988-1D53-B27D-ACB7195CEA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Progettazione</a:t>
            </a:r>
            <a:r>
              <a:rPr spc="235" dirty="0"/>
              <a:t> </a:t>
            </a:r>
            <a:r>
              <a:rPr spc="-5" dirty="0"/>
              <a:t>fisica</a:t>
            </a:r>
          </a:p>
        </p:txBody>
      </p:sp>
    </p:spTree>
    <p:extLst>
      <p:ext uri="{BB962C8B-B14F-4D97-AF65-F5344CB8AC3E}">
        <p14:creationId xmlns:p14="http://schemas.microsoft.com/office/powerpoint/2010/main" val="1886549638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</TotalTime>
  <Words>543</Words>
  <Application>Microsoft Office PowerPoint</Application>
  <PresentationFormat>Widescreen</PresentationFormat>
  <Paragraphs>40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9" baseType="lpstr">
      <vt:lpstr>Arial</vt:lpstr>
      <vt:lpstr>Corbel</vt:lpstr>
      <vt:lpstr>Courier New</vt:lpstr>
      <vt:lpstr>Trebuchet MS</vt:lpstr>
      <vt:lpstr>Wingdings 3</vt:lpstr>
      <vt:lpstr>Sfaccettatura</vt:lpstr>
      <vt:lpstr>BASI DI DATI </vt:lpstr>
      <vt:lpstr>Introduzione</vt:lpstr>
      <vt:lpstr>Presentazione standard di PowerPoint</vt:lpstr>
      <vt:lpstr>Capire cosa progettare</vt:lpstr>
      <vt:lpstr>Capire come progettare</vt:lpstr>
      <vt:lpstr>Esempio di normalizzazione</vt:lpstr>
      <vt:lpstr>Progettazione  Concettuale</vt:lpstr>
      <vt:lpstr>Dizionario dei Dati</vt:lpstr>
      <vt:lpstr>Progettazione logica</vt:lpstr>
      <vt:lpstr>Ristrutturazione dello schema  Entità-Relazione</vt:lpstr>
      <vt:lpstr>Schema E-R dopo  la ristrutturazione</vt:lpstr>
      <vt:lpstr>Traduzione verso il modello logico</vt:lpstr>
      <vt:lpstr>Progettazione fisica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 DI DATI </dc:title>
  <dc:creator>damiana1995@yahoo.it</dc:creator>
  <cp:lastModifiedBy>damiana arangio</cp:lastModifiedBy>
  <cp:revision>7</cp:revision>
  <dcterms:created xsi:type="dcterms:W3CDTF">2023-12-18T21:30:12Z</dcterms:created>
  <dcterms:modified xsi:type="dcterms:W3CDTF">2026-05-26T14:31:17Z</dcterms:modified>
</cp:coreProperties>
</file>